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30744-A035-4D32-9612-F46AC1EE2E6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173E6-08F7-4CC7-A74F-C5DE6ACCB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173E6-08F7-4CC7-A74F-C5DE6ACCB9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86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5B84-6944-15B0-6AE5-1F4AB4764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7E834-52E6-A15F-E627-C0EB75DB6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C5424-F0E6-9CFF-A554-D77F9535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7B10B-F5F0-9794-8D7B-6464E8FB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774CE-789C-023F-639A-2516BEAD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37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84F3-6FDB-1DBC-C58D-C35E62B1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6097-A7DF-299E-6DD0-4F0888A39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D73CF-22D9-29FA-FB3C-333689BF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A054-6DA9-FD1B-0AC5-900EE4C1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7C6F0-63BF-8475-C8AB-749EB3C2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5191-B37A-99C2-4545-3BCBA5C5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C1D44-42C5-25FB-4630-C9309848E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3B2E-7A98-5575-C050-2773176E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5E3B9-6AAF-F1C4-5FCD-C95EF525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1A7CA-1DC0-8DD7-11AB-68F24240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4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DC1B-9B0C-4E8B-FE82-1986496E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3CCB3-7A00-D381-237E-0BD84BFE2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7660A-2C47-92E4-061E-F193540EA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8B957-826B-2B1B-531F-CDEBCD9F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131CE-C648-068C-A1E1-6EE59E35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AB201-1F86-B78C-0B16-9281E1EC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5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D6E4-27FE-8A73-DBED-AA136ED8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5A67B-11BE-6A6E-B8E6-EB4A57A0A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ACD9D-8932-E12B-A783-96F57390A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A1469-E203-0798-9564-E2724ECCA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672A9-C22F-045D-AFBE-78D1038B9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FDD6C-8D7B-31D8-98D0-E95F8374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8E421-81F2-98AD-2539-ABE19B3E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AA21E-986F-3730-1C0E-0EC3E156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79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73B0-39E7-FBC4-AB34-CDFB16FB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6AFA48-0A45-1A20-7FDF-4F1168A8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0070C-F528-0825-9D93-5108F76C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C73CB-89EC-7F14-DC0B-38597890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0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DA26C-3DC5-3D36-2AD7-497BE4F7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3FD2F-51C4-636C-F7C3-1B1BA7A0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49C7B-1A54-D300-1D5C-2155EE81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5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AC9-0C7B-4242-566C-65ECCCD5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6E393-BC77-BA10-BECD-6A3C49A17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90044-0A71-60DE-6314-C489E560F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1855B-CA09-8745-EA3F-6931B782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6B8C4-6C98-E658-76C4-E532DCC3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4DEFA-260D-A645-CD04-2E6C4C9E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7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6142-81EB-E601-E86F-15865E56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AB111-A38A-F6EC-81CF-0DE179428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7D9BB-9C6C-F58C-9ECD-59669C411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83A12-F77F-95E9-F436-F69910AE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C759F-748F-8F75-6F46-90C4193F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8AA15-4365-01D7-0852-2CC40695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8A77-C4E2-F9F2-1E3B-44CDE4FB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B3ECA-7B40-C68A-0F34-44CFAD169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0799F-75DF-715A-8952-B1F07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184BE-0278-A1F0-6AA9-913D47A6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63FC7-3151-14E5-7757-B695CC07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9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38331-3558-6491-128E-AE53303CF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27CA9-0A9B-BAAB-0FA6-6167A18C3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E095E-5184-67B7-A140-8F566E59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BE461-2070-321E-2866-D2F69A36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D9C0A-E69C-E8E6-B313-80D5CA09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AE5147-101E-8876-539B-270E56703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6D0FF-681A-42D2-BC91-C23639238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BEE29-9BDD-DFEB-36B7-9EF8EB7FF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25E4EF-2E56-4957-B986-C2A6F055DBD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9F0E8-E2A3-36F2-0CD0-D7DC968A8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F1C1A-4079-B635-216C-3A6D322BA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576A7-8AE3-4898-8F7B-C0A199363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0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3FA9EB4-7604-3E24-9517-F8E547ADB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531928"/>
              </p:ext>
            </p:extLst>
          </p:nvPr>
        </p:nvGraphicFramePr>
        <p:xfrm>
          <a:off x="3911810" y="4133598"/>
          <a:ext cx="3982860" cy="25860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6572">
                  <a:extLst>
                    <a:ext uri="{9D8B030D-6E8A-4147-A177-3AD203B41FA5}">
                      <a16:colId xmlns:a16="http://schemas.microsoft.com/office/drawing/2014/main" val="2314167732"/>
                    </a:ext>
                  </a:extLst>
                </a:gridCol>
                <a:gridCol w="796572">
                  <a:extLst>
                    <a:ext uri="{9D8B030D-6E8A-4147-A177-3AD203B41FA5}">
                      <a16:colId xmlns:a16="http://schemas.microsoft.com/office/drawing/2014/main" val="1034120349"/>
                    </a:ext>
                  </a:extLst>
                </a:gridCol>
                <a:gridCol w="796572">
                  <a:extLst>
                    <a:ext uri="{9D8B030D-6E8A-4147-A177-3AD203B41FA5}">
                      <a16:colId xmlns:a16="http://schemas.microsoft.com/office/drawing/2014/main" val="3060747995"/>
                    </a:ext>
                  </a:extLst>
                </a:gridCol>
                <a:gridCol w="796572">
                  <a:extLst>
                    <a:ext uri="{9D8B030D-6E8A-4147-A177-3AD203B41FA5}">
                      <a16:colId xmlns:a16="http://schemas.microsoft.com/office/drawing/2014/main" val="693486232"/>
                    </a:ext>
                  </a:extLst>
                </a:gridCol>
                <a:gridCol w="796572">
                  <a:extLst>
                    <a:ext uri="{9D8B030D-6E8A-4147-A177-3AD203B41FA5}">
                      <a16:colId xmlns:a16="http://schemas.microsoft.com/office/drawing/2014/main" val="61156518"/>
                    </a:ext>
                  </a:extLst>
                </a:gridCol>
              </a:tblGrid>
              <a:tr h="517207"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CAD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826872"/>
                  </a:ext>
                </a:extLst>
              </a:tr>
              <a:tr h="517207"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MASK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717143"/>
                  </a:ext>
                </a:extLst>
              </a:tr>
              <a:tr h="517207"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% IN  THE IMAGE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15%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10%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2%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5%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672558"/>
                  </a:ext>
                </a:extLst>
              </a:tr>
              <a:tr h="517207"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VISIBLE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5624"/>
                  </a:ext>
                </a:extLst>
              </a:tr>
              <a:tr h="517207">
                <a:tc gridSpan="2"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MONUMENTS SEEN</a:t>
                      </a:r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3/4</a:t>
                      </a:r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85907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BC9ECEE-0928-AB55-1425-018DEAFAE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8" b="7407"/>
          <a:stretch>
            <a:fillRect/>
          </a:stretch>
        </p:blipFill>
        <p:spPr>
          <a:xfrm>
            <a:off x="3911810" y="198915"/>
            <a:ext cx="7701070" cy="3469468"/>
          </a:xfrm>
          <a:prstGeom prst="rect">
            <a:avLst/>
          </a:prstGeom>
        </p:spPr>
      </p:pic>
      <p:sp>
        <p:nvSpPr>
          <p:cNvPr id="13" name="Wave 12">
            <a:extLst>
              <a:ext uri="{FF2B5EF4-FFF2-40B4-BE49-F238E27FC236}">
                <a16:creationId xmlns:a16="http://schemas.microsoft.com/office/drawing/2014/main" id="{5681C325-E2FA-A3FC-B204-2934D386772C}"/>
              </a:ext>
            </a:extLst>
          </p:cNvPr>
          <p:cNvSpPr/>
          <p:nvPr/>
        </p:nvSpPr>
        <p:spPr>
          <a:xfrm rot="16200000">
            <a:off x="-2138577" y="634895"/>
            <a:ext cx="6858002" cy="5588208"/>
          </a:xfrm>
          <a:prstGeom prst="wave">
            <a:avLst/>
          </a:prstGeom>
          <a:solidFill>
            <a:srgbClr val="FFCC66">
              <a:alpha val="29804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DBEBFE-3410-3FCB-EA3B-A7F67C16B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579"/>
          <a:stretch>
            <a:fillRect/>
          </a:stretch>
        </p:blipFill>
        <p:spPr>
          <a:xfrm>
            <a:off x="853648" y="255758"/>
            <a:ext cx="1686456" cy="7767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BBA9C9-20CB-0F4A-2764-16D97D2AA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76"/>
          <a:stretch>
            <a:fillRect/>
          </a:stretch>
        </p:blipFill>
        <p:spPr>
          <a:xfrm>
            <a:off x="2059053" y="5952802"/>
            <a:ext cx="962102" cy="8340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B4D109-6707-7641-874F-09257AACC7D0}"/>
              </a:ext>
            </a:extLst>
          </p:cNvPr>
          <p:cNvSpPr txBox="1"/>
          <p:nvPr/>
        </p:nvSpPr>
        <p:spPr>
          <a:xfrm>
            <a:off x="10634" y="1782360"/>
            <a:ext cx="28538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Earth Observation </a:t>
            </a:r>
            <a:r>
              <a:rPr lang="en-US" sz="1400" dirty="0"/>
              <a:t>services for the preservation and risk assessment of major </a:t>
            </a:r>
            <a:r>
              <a:rPr lang="en-US" sz="1400" b="1" dirty="0"/>
              <a:t>Italian cultural heritage sites and monuments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Compliance with the Italian Space law (Space segment designed to </a:t>
            </a:r>
            <a:r>
              <a:rPr lang="en-US" sz="1400" b="1" dirty="0"/>
              <a:t>minimize its luminous impact </a:t>
            </a:r>
            <a:r>
              <a:rPr lang="en-US" sz="1400" dirty="0"/>
              <a:t>on the night sky, </a:t>
            </a:r>
            <a:r>
              <a:rPr lang="en-US" sz="1400" b="1" dirty="0"/>
              <a:t>Space-debris conjunction monitoring</a:t>
            </a:r>
            <a:r>
              <a:rPr lang="en-US" sz="1400" dirty="0"/>
              <a:t> and warning capability).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D6C919-0A2E-73E4-BED6-DDAA2DDEB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308" y="4163327"/>
            <a:ext cx="451175" cy="4511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B1BC84-314D-2A58-6E5B-6F95C946EB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752" y="4163327"/>
            <a:ext cx="451174" cy="4511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931CEC-6F00-C225-757C-611469469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506" y="4161516"/>
            <a:ext cx="454797" cy="4547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73BE870-80CD-0196-7C5E-4246568B21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379" y="4173838"/>
            <a:ext cx="430153" cy="4301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AF1E7D4-E06E-798F-2A67-A0909FD6F6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752" y="4090151"/>
            <a:ext cx="3663088" cy="268694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9798A75-D091-4CE4-1AD3-4C184ECB3CA2}"/>
              </a:ext>
            </a:extLst>
          </p:cNvPr>
          <p:cNvSpPr/>
          <p:nvPr/>
        </p:nvSpPr>
        <p:spPr>
          <a:xfrm>
            <a:off x="3881120" y="3754788"/>
            <a:ext cx="4085688" cy="303208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DC4BC1-C1D9-604C-C2F0-081620730C3D}"/>
              </a:ext>
            </a:extLst>
          </p:cNvPr>
          <p:cNvSpPr txBox="1"/>
          <p:nvPr/>
        </p:nvSpPr>
        <p:spPr>
          <a:xfrm>
            <a:off x="4373681" y="3759527"/>
            <a:ext cx="3297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 err="1"/>
              <a:t>KPIs</a:t>
            </a:r>
            <a:r>
              <a:rPr lang="it-IT" i="1" dirty="0"/>
              <a:t> </a:t>
            </a:r>
            <a:r>
              <a:rPr lang="it-IT" i="1" dirty="0" err="1"/>
              <a:t>evaluation</a:t>
            </a:r>
            <a:r>
              <a:rPr lang="it-IT" i="1" dirty="0"/>
              <a:t> </a:t>
            </a:r>
            <a:r>
              <a:rPr lang="it-IT" i="1" dirty="0" err="1"/>
              <a:t>example</a:t>
            </a:r>
            <a:endParaRPr lang="en-US" i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22978DA-E9FA-F21E-B983-388B9F7B79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752" y="4714783"/>
            <a:ext cx="429766" cy="42976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E014837-7813-E21F-30A9-0C4C45D368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827" y="4714590"/>
            <a:ext cx="430153" cy="43015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473E726-303F-E8B9-8905-ED4D5D98CE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163" y="4714590"/>
            <a:ext cx="430154" cy="43015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DCAFA4F-F89A-3C9F-6298-9951E10A59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953" y="4704079"/>
            <a:ext cx="451174" cy="45117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EE8FF4F-1880-874B-1B58-7C0284D50B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1"/>
          <a:stretch>
            <a:fillRect/>
          </a:stretch>
        </p:blipFill>
        <p:spPr>
          <a:xfrm>
            <a:off x="4890827" y="5733648"/>
            <a:ext cx="462059" cy="38276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5609C2C-52EF-D87F-EC35-6CB44D6E0C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1"/>
          <a:stretch>
            <a:fillRect/>
          </a:stretch>
        </p:blipFill>
        <p:spPr>
          <a:xfrm>
            <a:off x="5680473" y="5733648"/>
            <a:ext cx="462059" cy="38276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9DA78CE-74FC-F762-1F14-E33648A409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1"/>
          <a:stretch>
            <a:fillRect/>
          </a:stretch>
        </p:blipFill>
        <p:spPr>
          <a:xfrm>
            <a:off x="7237651" y="5725734"/>
            <a:ext cx="462059" cy="38276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1DAE618-8FDC-55CE-531E-60D8CDA0F4C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20"/>
          <a:stretch>
            <a:fillRect/>
          </a:stretch>
        </p:blipFill>
        <p:spPr>
          <a:xfrm flipH="1">
            <a:off x="6470119" y="5758068"/>
            <a:ext cx="429768" cy="35834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4AE78C65-0BBF-6DC1-7FE1-3EFDA15ED7B7}"/>
              </a:ext>
            </a:extLst>
          </p:cNvPr>
          <p:cNvSpPr/>
          <p:nvPr/>
        </p:nvSpPr>
        <p:spPr>
          <a:xfrm>
            <a:off x="8013571" y="3754788"/>
            <a:ext cx="4085688" cy="303208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CE3149-029B-F628-CA7C-9C388E84703B}"/>
              </a:ext>
            </a:extLst>
          </p:cNvPr>
          <p:cNvSpPr txBox="1"/>
          <p:nvPr/>
        </p:nvSpPr>
        <p:spPr>
          <a:xfrm>
            <a:off x="8013571" y="3759527"/>
            <a:ext cx="408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 err="1"/>
              <a:t>Selected</a:t>
            </a:r>
            <a:r>
              <a:rPr lang="it-IT" i="1" dirty="0"/>
              <a:t> </a:t>
            </a:r>
            <a:r>
              <a:rPr lang="it-IT" i="1" dirty="0" err="1"/>
              <a:t>configurations</a:t>
            </a:r>
            <a:r>
              <a:rPr lang="it-IT" i="1" dirty="0"/>
              <a:t> </a:t>
            </a:r>
            <a:r>
              <a:rPr lang="it-IT" i="1" dirty="0" err="1"/>
              <a:t>example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658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288AF7-B352-22F2-86A8-97A982186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62" y="547687"/>
            <a:ext cx="1088707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4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95F8-C52F-EA30-7FCA-066B21C5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3E3F9-9474-2125-92DC-7F2061676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62" y="547687"/>
            <a:ext cx="10887075" cy="576262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D1A7D44-B0C3-0744-B836-0842FE795407}"/>
              </a:ext>
            </a:extLst>
          </p:cNvPr>
          <p:cNvSpPr/>
          <p:nvPr/>
        </p:nvSpPr>
        <p:spPr>
          <a:xfrm>
            <a:off x="652462" y="4366261"/>
            <a:ext cx="1381760" cy="1117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DA4412-5648-1204-6A75-CD369B233710}"/>
              </a:ext>
            </a:extLst>
          </p:cNvPr>
          <p:cNvSpPr/>
          <p:nvPr/>
        </p:nvSpPr>
        <p:spPr>
          <a:xfrm>
            <a:off x="652462" y="2639061"/>
            <a:ext cx="1381760" cy="1117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039EF49-8375-997D-0E2D-5CD1DAC62702}"/>
              </a:ext>
            </a:extLst>
          </p:cNvPr>
          <p:cNvSpPr/>
          <p:nvPr/>
        </p:nvSpPr>
        <p:spPr>
          <a:xfrm>
            <a:off x="1849120" y="2639061"/>
            <a:ext cx="1381760" cy="1117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830C49-005F-C73E-3351-425F788E248C}"/>
              </a:ext>
            </a:extLst>
          </p:cNvPr>
          <p:cNvSpPr/>
          <p:nvPr/>
        </p:nvSpPr>
        <p:spPr>
          <a:xfrm>
            <a:off x="3789680" y="4366261"/>
            <a:ext cx="1381760" cy="1117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49993C-2C58-CB06-046B-3DF1D863E9E0}"/>
              </a:ext>
            </a:extLst>
          </p:cNvPr>
          <p:cNvSpPr/>
          <p:nvPr/>
        </p:nvSpPr>
        <p:spPr>
          <a:xfrm>
            <a:off x="5008880" y="4366261"/>
            <a:ext cx="1381760" cy="11176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D32A56-79E2-77C0-4F4A-E0A550FBA982}"/>
              </a:ext>
            </a:extLst>
          </p:cNvPr>
          <p:cNvSpPr/>
          <p:nvPr/>
        </p:nvSpPr>
        <p:spPr>
          <a:xfrm>
            <a:off x="7426960" y="901701"/>
            <a:ext cx="1381760" cy="11176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D9A445-5111-B001-8EC6-DF7D875E847F}"/>
              </a:ext>
            </a:extLst>
          </p:cNvPr>
          <p:cNvSpPr/>
          <p:nvPr/>
        </p:nvSpPr>
        <p:spPr>
          <a:xfrm>
            <a:off x="7741920" y="2639061"/>
            <a:ext cx="1381760" cy="11176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0436E3-EF41-F4C6-719E-71EFEF243AEF}"/>
              </a:ext>
            </a:extLst>
          </p:cNvPr>
          <p:cNvSpPr/>
          <p:nvPr/>
        </p:nvSpPr>
        <p:spPr>
          <a:xfrm>
            <a:off x="640080" y="911861"/>
            <a:ext cx="1381760" cy="11176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9342D9-93B0-2C03-F16E-A381832B3250}"/>
              </a:ext>
            </a:extLst>
          </p:cNvPr>
          <p:cNvSpPr/>
          <p:nvPr/>
        </p:nvSpPr>
        <p:spPr>
          <a:xfrm>
            <a:off x="9834880" y="4363722"/>
            <a:ext cx="1381760" cy="1117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B6E7EB-0742-C89F-64DE-73E1677CE628}"/>
              </a:ext>
            </a:extLst>
          </p:cNvPr>
          <p:cNvSpPr/>
          <p:nvPr/>
        </p:nvSpPr>
        <p:spPr>
          <a:xfrm>
            <a:off x="9640728" y="2639061"/>
            <a:ext cx="1381760" cy="1117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8437971-5837-3BC6-AEBA-9322D83495A1}"/>
              </a:ext>
            </a:extLst>
          </p:cNvPr>
          <p:cNvSpPr/>
          <p:nvPr/>
        </p:nvSpPr>
        <p:spPr>
          <a:xfrm>
            <a:off x="7421880" y="4363722"/>
            <a:ext cx="1381760" cy="11176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1012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70</Words>
  <Application>Microsoft Office PowerPoint</Application>
  <PresentationFormat>Widescreen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mascia bucciarelli</dc:creator>
  <cp:lastModifiedBy>mascia bucciarelli</cp:lastModifiedBy>
  <cp:revision>6</cp:revision>
  <dcterms:created xsi:type="dcterms:W3CDTF">2026-09-29T10:41:15Z</dcterms:created>
  <dcterms:modified xsi:type="dcterms:W3CDTF">2026-09-29T13:58:38Z</dcterms:modified>
</cp:coreProperties>
</file>