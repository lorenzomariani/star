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62" r:id="rId4"/>
    <p:sldId id="263" r:id="rId5"/>
    <p:sldId id="272" r:id="rId6"/>
    <p:sldId id="273" r:id="rId7"/>
    <p:sldId id="268" r:id="rId8"/>
    <p:sldId id="265" r:id="rId9"/>
    <p:sldId id="277" r:id="rId10"/>
    <p:sldId id="261" r:id="rId11"/>
    <p:sldId id="264" r:id="rId12"/>
    <p:sldId id="269" r:id="rId13"/>
    <p:sldId id="266" r:id="rId14"/>
    <p:sldId id="270" r:id="rId15"/>
    <p:sldId id="275" r:id="rId16"/>
    <p:sldId id="276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  <a:srgbClr val="FFCCFF"/>
    <a:srgbClr val="FFCCCC"/>
    <a:srgbClr val="26B8C7"/>
    <a:srgbClr val="CCFFFF"/>
    <a:srgbClr val="FFFFCC"/>
    <a:srgbClr val="A6A6A6"/>
    <a:srgbClr val="FFF2D9"/>
    <a:srgbClr val="165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9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141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di apertura: STAR è un digital twin federato, quindi serve distinguere tra standard di processo/documentazione e reference architecture digital twin. Messaggio chiave: ECSS è il backbone, ISO 23247 è in fase di studio per il mapping architetturale.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Sottolineare che ECSS-E-ST-10-24C è il riferimento più operativo per STAR perché parla di interface management. Il processo ECSS diventa la metodologia di governance per moduli black-box.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1128A-B04A-72A0-CB22-5967ECDC4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9CF1AA-F00D-C51E-C78B-3BB495BEA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446B2B-5414-6A06-8916-14A43A2E7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Sottolineare che ECSS-E-ST-10-24C è il riferimento più operativo per STAR perché parla di interface management. Il processo ECSS diventa la metodologia di governance per moduli black-box.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4A5D2-4822-3889-6EB9-15D0C2F1B6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39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4200" y="179492"/>
            <a:ext cx="8183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STAR: Standard </a:t>
            </a:r>
            <a:r>
              <a:rPr lang="en-US" sz="2900" b="1" dirty="0" err="1">
                <a:solidFill>
                  <a:srgbClr val="0B1F3A"/>
                </a:solidFill>
              </a:rPr>
              <a:t>documentazione</a:t>
            </a:r>
            <a:r>
              <a:rPr lang="en-US" sz="2900" b="1" dirty="0">
                <a:solidFill>
                  <a:srgbClr val="0B1F3A"/>
                </a:solidFill>
              </a:rPr>
              <a:t> e </a:t>
            </a:r>
            <a:r>
              <a:rPr lang="en-US" sz="2900" b="1" dirty="0" err="1">
                <a:solidFill>
                  <a:srgbClr val="0B1F3A"/>
                </a:solidFill>
              </a:rPr>
              <a:t>architettura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608273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26B8C7"/>
                </a:solidFill>
              </a:rPr>
              <a:t>Proposta</a:t>
            </a:r>
            <a:r>
              <a:rPr lang="en-US" b="1" dirty="0">
                <a:solidFill>
                  <a:srgbClr val="26B8C7"/>
                </a:solidFill>
              </a:rPr>
              <a:t> </a:t>
            </a:r>
            <a:r>
              <a:rPr lang="en-US" b="1" dirty="0" err="1">
                <a:solidFill>
                  <a:srgbClr val="26B8C7"/>
                </a:solidFill>
              </a:rPr>
              <a:t>documentazione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9121" y="1026136"/>
            <a:ext cx="51663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B1F3A"/>
                </a:solidFill>
              </a:rPr>
              <a:t>Adottare una </a:t>
            </a:r>
            <a:r>
              <a:rPr lang="en-US" sz="1950" b="1" dirty="0" err="1">
                <a:solidFill>
                  <a:srgbClr val="0B1F3A"/>
                </a:solidFill>
              </a:rPr>
              <a:t>documentazione</a:t>
            </a:r>
            <a:r>
              <a:rPr lang="en-US" sz="1950" b="1" dirty="0">
                <a:solidFill>
                  <a:srgbClr val="0B1F3A"/>
                </a:solidFill>
              </a:rPr>
              <a:t> ECSS-based per </a:t>
            </a:r>
            <a:r>
              <a:rPr lang="en-US" sz="1950" b="1" dirty="0" err="1">
                <a:solidFill>
                  <a:srgbClr val="0B1F3A"/>
                </a:solidFill>
              </a:rPr>
              <a:t>descrivere</a:t>
            </a:r>
            <a:r>
              <a:rPr lang="en-US" sz="1950" b="1" dirty="0">
                <a:solidFill>
                  <a:srgbClr val="0B1F3A"/>
                </a:solidFill>
              </a:rPr>
              <a:t> </a:t>
            </a:r>
            <a:r>
              <a:rPr lang="en-US" sz="1950" b="1" dirty="0" err="1">
                <a:solidFill>
                  <a:srgbClr val="0B1F3A"/>
                </a:solidFill>
              </a:rPr>
              <a:t>i</a:t>
            </a:r>
            <a:r>
              <a:rPr lang="en-US" sz="1950" b="1" dirty="0">
                <a:solidFill>
                  <a:srgbClr val="0B1F3A"/>
                </a:solidFill>
              </a:rPr>
              <a:t> moduli e le </a:t>
            </a:r>
            <a:r>
              <a:rPr lang="en-US" sz="1950" b="1" dirty="0" err="1">
                <a:solidFill>
                  <a:srgbClr val="0B1F3A"/>
                </a:solidFill>
              </a:rPr>
              <a:t>interfacce</a:t>
            </a:r>
            <a:r>
              <a:rPr lang="en-US" sz="1950" b="1" dirty="0">
                <a:solidFill>
                  <a:srgbClr val="0B1F3A"/>
                </a:solidFill>
              </a:rPr>
              <a:t> di </a:t>
            </a:r>
            <a:r>
              <a:rPr lang="en-US" sz="1950" b="1" dirty="0" err="1">
                <a:solidFill>
                  <a:srgbClr val="0B1F3A"/>
                </a:solidFill>
              </a:rPr>
              <a:t>scambio</a:t>
            </a:r>
            <a:r>
              <a:rPr lang="en-US" sz="1950" b="1" dirty="0">
                <a:solidFill>
                  <a:srgbClr val="0B1F3A"/>
                </a:solidFill>
              </a:rPr>
              <a:t> di </a:t>
            </a:r>
            <a:r>
              <a:rPr lang="en-US" sz="1950" b="1" dirty="0" err="1">
                <a:solidFill>
                  <a:srgbClr val="0B1F3A"/>
                </a:solidFill>
              </a:rPr>
              <a:t>dati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02920" y="6547104"/>
            <a:ext cx="9784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68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Fonti: ESA Bulletin 111 (2002); ECSS-E-ST-10-24C Rev.1 (2024)</a:t>
            </a:r>
            <a:endParaRPr lang="en-US" sz="620" dirty="0"/>
          </a:p>
        </p:txBody>
      </p:sp>
      <p:sp>
        <p:nvSpPr>
          <p:cNvPr id="13" name="Text 10"/>
          <p:cNvSpPr/>
          <p:nvPr/>
        </p:nvSpPr>
        <p:spPr>
          <a:xfrm>
            <a:off x="10789920" y="650138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8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 standards study</a:t>
            </a:r>
            <a:endParaRPr lang="en-US" sz="65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8E126D6A-2650-EB1F-FA2B-8C2912BDD2F2}"/>
              </a:ext>
            </a:extLst>
          </p:cNvPr>
          <p:cNvSpPr/>
          <p:nvPr/>
        </p:nvSpPr>
        <p:spPr>
          <a:xfrm>
            <a:off x="579121" y="3049757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Da standard ESA interni a ECSS come tailoring spaziale di ISO: </a:t>
            </a:r>
            <a:r>
              <a:rPr lang="en-US" sz="1600" dirty="0" err="1">
                <a:solidFill>
                  <a:srgbClr val="0B1F3A"/>
                </a:solidFill>
              </a:rPr>
              <a:t>adattamento</a:t>
            </a:r>
            <a:r>
              <a:rPr lang="en-US" sz="1600" dirty="0">
                <a:solidFill>
                  <a:srgbClr val="0B1F3A"/>
                </a:solidFill>
              </a:rPr>
              <a:t> </a:t>
            </a:r>
            <a:r>
              <a:rPr lang="en-US" sz="1600" dirty="0" err="1">
                <a:solidFill>
                  <a:srgbClr val="0B1F3A"/>
                </a:solidFill>
              </a:rPr>
              <a:t>europeo</a:t>
            </a:r>
            <a:r>
              <a:rPr lang="en-US" sz="1600" dirty="0">
                <a:solidFill>
                  <a:srgbClr val="0B1F3A"/>
                </a:solidFill>
              </a:rPr>
              <a:t> di </a:t>
            </a:r>
            <a:r>
              <a:rPr lang="en-US" sz="1600" dirty="0" err="1">
                <a:solidFill>
                  <a:srgbClr val="0B1F3A"/>
                </a:solidFill>
              </a:rPr>
              <a:t>pratiche</a:t>
            </a:r>
            <a:r>
              <a:rPr lang="en-US" sz="1600" dirty="0">
                <a:solidFill>
                  <a:srgbClr val="0B1F3A"/>
                </a:solidFill>
              </a:rPr>
              <a:t>, </a:t>
            </a:r>
            <a:r>
              <a:rPr lang="en-US" sz="1600" dirty="0" err="1">
                <a:solidFill>
                  <a:srgbClr val="0B1F3A"/>
                </a:solidFill>
              </a:rPr>
              <a:t>esperienze</a:t>
            </a:r>
            <a:r>
              <a:rPr lang="en-US" sz="1600" dirty="0">
                <a:solidFill>
                  <a:srgbClr val="0B1F3A"/>
                </a:solidFill>
              </a:rPr>
              <a:t> e standard </a:t>
            </a:r>
            <a:r>
              <a:rPr lang="en-US" sz="1600" dirty="0" err="1">
                <a:solidFill>
                  <a:srgbClr val="0B1F3A"/>
                </a:solidFill>
              </a:rPr>
              <a:t>internazionali</a:t>
            </a:r>
            <a:r>
              <a:rPr lang="en-US" sz="1600" dirty="0">
                <a:solidFill>
                  <a:srgbClr val="0B1F3A"/>
                </a:solidFill>
              </a:rPr>
              <a:t> ai </a:t>
            </a:r>
            <a:r>
              <a:rPr lang="en-US" sz="1600" dirty="0" err="1">
                <a:solidFill>
                  <a:srgbClr val="0B1F3A"/>
                </a:solidFill>
              </a:rPr>
              <a:t>programmi</a:t>
            </a:r>
            <a:r>
              <a:rPr lang="en-US" sz="1600" dirty="0">
                <a:solidFill>
                  <a:srgbClr val="0B1F3A"/>
                </a:solidFill>
              </a:rPr>
              <a:t> </a:t>
            </a:r>
            <a:r>
              <a:rPr lang="en-US" sz="1600" dirty="0" err="1">
                <a:solidFill>
                  <a:srgbClr val="0B1F3A"/>
                </a:solidFill>
              </a:rPr>
              <a:t>spaziali</a:t>
            </a:r>
            <a:r>
              <a:rPr lang="en-US" sz="1600" dirty="0">
                <a:solidFill>
                  <a:srgbClr val="0B1F3A"/>
                </a:solidFill>
              </a:rPr>
              <a:t>, con </a:t>
            </a:r>
            <a:r>
              <a:rPr lang="en-US" sz="1600" dirty="0" err="1">
                <a:solidFill>
                  <a:srgbClr val="0B1F3A"/>
                </a:solidFill>
              </a:rPr>
              <a:t>una</a:t>
            </a:r>
            <a:r>
              <a:rPr lang="en-US" sz="1600" dirty="0">
                <a:solidFill>
                  <a:srgbClr val="0B1F3A"/>
                </a:solidFill>
              </a:rPr>
              <a:t> </a:t>
            </a:r>
            <a:r>
              <a:rPr lang="en-US" sz="1600" dirty="0" err="1">
                <a:solidFill>
                  <a:srgbClr val="0B1F3A"/>
                </a:solidFill>
              </a:rPr>
              <a:t>struttura</a:t>
            </a:r>
            <a:r>
              <a:rPr lang="en-US" sz="1600" dirty="0">
                <a:solidFill>
                  <a:srgbClr val="0B1F3A"/>
                </a:solidFill>
              </a:rPr>
              <a:t> </a:t>
            </a:r>
            <a:r>
              <a:rPr lang="en-US" sz="1600" dirty="0" err="1">
                <a:solidFill>
                  <a:srgbClr val="0B1F3A"/>
                </a:solidFill>
              </a:rPr>
              <a:t>comune</a:t>
            </a:r>
            <a:r>
              <a:rPr lang="en-US" sz="1600" dirty="0">
                <a:solidFill>
                  <a:srgbClr val="0B1F3A"/>
                </a:solidFill>
              </a:rPr>
              <a:t> di engineering, product assurance e management</a:t>
            </a:r>
            <a:endParaRPr lang="en-US" sz="16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3BE62991-B40F-6B2B-0EFA-FAF0D0CE50C7}"/>
              </a:ext>
            </a:extLst>
          </p:cNvPr>
          <p:cNvSpPr/>
          <p:nvPr/>
        </p:nvSpPr>
        <p:spPr>
          <a:xfrm>
            <a:off x="629920" y="3696466"/>
            <a:ext cx="2292697" cy="1246374"/>
          </a:xfrm>
          <a:prstGeom prst="rect">
            <a:avLst/>
          </a:prstGeom>
          <a:solidFill>
            <a:srgbClr val="EAF4FF"/>
          </a:solidFill>
          <a:ln w="12700">
            <a:solidFill>
              <a:srgbClr val="A9BED5"/>
            </a:solidFill>
          </a:ln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ESA PSS-05, 1984 </a:t>
            </a:r>
            <a:r>
              <a:rPr lang="en-US" sz="900" dirty="0">
                <a:solidFill>
                  <a:srgbClr val="0B1F3A"/>
                </a:solidFill>
              </a:rPr>
              <a:t>(v21991)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0B1F3A"/>
                </a:solidFill>
              </a:rPr>
              <a:t>Standard ESA per il </a:t>
            </a:r>
            <a:r>
              <a:rPr lang="en-US" sz="1100" b="1" dirty="0">
                <a:solidFill>
                  <a:srgbClr val="0B1F3A"/>
                </a:solidFill>
              </a:rPr>
              <a:t>software engineering</a:t>
            </a:r>
          </a:p>
          <a:p>
            <a:pPr marL="0" indent="0" algn="just">
              <a:buNone/>
            </a:pPr>
            <a:r>
              <a:rPr lang="en-US" sz="1100" dirty="0" err="1">
                <a:solidFill>
                  <a:srgbClr val="0B1F3A"/>
                </a:solidFill>
              </a:rPr>
              <a:t>Disciplinava</a:t>
            </a:r>
            <a:r>
              <a:rPr lang="en-US" sz="1100" dirty="0">
                <a:solidFill>
                  <a:srgbClr val="0B1F3A"/>
                </a:solidFill>
              </a:rPr>
              <a:t>:</a:t>
            </a:r>
          </a:p>
          <a:p>
            <a:pPr marL="0" indent="0" algn="just">
              <a:buNone/>
            </a:pPr>
            <a:r>
              <a:rPr lang="en-US" sz="1100" dirty="0" err="1">
                <a:solidFill>
                  <a:srgbClr val="0B1F3A"/>
                </a:solidFill>
              </a:rPr>
              <a:t>Sviluppo</a:t>
            </a:r>
            <a:r>
              <a:rPr lang="en-US" sz="1100" dirty="0">
                <a:solidFill>
                  <a:srgbClr val="0B1F3A"/>
                </a:solidFill>
              </a:rPr>
              <a:t> software, design, </a:t>
            </a:r>
            <a:r>
              <a:rPr lang="en-US" sz="1100" dirty="0" err="1">
                <a:solidFill>
                  <a:srgbClr val="0B1F3A"/>
                </a:solidFill>
              </a:rPr>
              <a:t>codifica</a:t>
            </a:r>
            <a:r>
              <a:rPr lang="en-US" sz="1100" dirty="0">
                <a:solidFill>
                  <a:srgbClr val="0B1F3A"/>
                </a:solidFill>
              </a:rPr>
              <a:t>, test, </a:t>
            </a:r>
            <a:r>
              <a:rPr lang="en-US" sz="1100" dirty="0" err="1">
                <a:solidFill>
                  <a:srgbClr val="0B1F3A"/>
                </a:solidFill>
              </a:rPr>
              <a:t>documentazione</a:t>
            </a:r>
            <a:r>
              <a:rPr lang="en-US" sz="1100" dirty="0">
                <a:solidFill>
                  <a:srgbClr val="0B1F3A"/>
                </a:solidFill>
              </a:rPr>
              <a:t>, review, </a:t>
            </a:r>
            <a:r>
              <a:rPr lang="en-US" sz="1100" dirty="0" err="1">
                <a:solidFill>
                  <a:srgbClr val="0B1F3A"/>
                </a:solidFill>
              </a:rPr>
              <a:t>manutenzione</a:t>
            </a:r>
            <a:endParaRPr lang="en-US" sz="11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DF063977-AD4E-988A-C05C-582D9AA6A6FB}"/>
              </a:ext>
            </a:extLst>
          </p:cNvPr>
          <p:cNvSpPr/>
          <p:nvPr/>
        </p:nvSpPr>
        <p:spPr>
          <a:xfrm>
            <a:off x="2961640" y="4274571"/>
            <a:ext cx="548640" cy="0"/>
          </a:xfrm>
          <a:prstGeom prst="line">
            <a:avLst/>
          </a:prstGeom>
          <a:noFill/>
          <a:ln w="19050">
            <a:solidFill>
              <a:srgbClr val="165B9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9951BF75-2BB1-B906-9189-3391B860A046}"/>
              </a:ext>
            </a:extLst>
          </p:cNvPr>
          <p:cNvSpPr/>
          <p:nvPr/>
        </p:nvSpPr>
        <p:spPr>
          <a:xfrm>
            <a:off x="3535681" y="3696466"/>
            <a:ext cx="2418080" cy="1246373"/>
          </a:xfrm>
          <a:prstGeom prst="rect">
            <a:avLst/>
          </a:prstGeom>
          <a:solidFill>
            <a:srgbClr val="EEF7EF"/>
          </a:solidFill>
          <a:ln w="12700">
            <a:solidFill>
              <a:srgbClr val="A9B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ISO/IEC 12207, 1995</a:t>
            </a:r>
          </a:p>
          <a:p>
            <a:pPr marL="0" indent="0" algn="ctr">
              <a:buNone/>
            </a:pPr>
            <a:r>
              <a:rPr lang="en-US" sz="1100" dirty="0"/>
              <a:t>Standard </a:t>
            </a:r>
            <a:r>
              <a:rPr lang="en-US" sz="1100" dirty="0" err="1"/>
              <a:t>internazionale</a:t>
            </a:r>
            <a:r>
              <a:rPr lang="en-US" sz="1100" dirty="0"/>
              <a:t> per il </a:t>
            </a:r>
            <a:r>
              <a:rPr lang="en-US" sz="1100" b="1" dirty="0" err="1"/>
              <a:t>ciclo</a:t>
            </a:r>
            <a:r>
              <a:rPr lang="en-US" sz="1100" b="1" dirty="0"/>
              <a:t> di vita </a:t>
            </a:r>
            <a:r>
              <a:rPr lang="en-US" sz="1100" b="1" dirty="0" err="1"/>
              <a:t>dei</a:t>
            </a:r>
            <a:r>
              <a:rPr lang="en-US" sz="1100" b="1" dirty="0"/>
              <a:t> software</a:t>
            </a:r>
          </a:p>
          <a:p>
            <a:pPr marL="0" indent="0" algn="just">
              <a:buNone/>
            </a:pPr>
            <a:r>
              <a:rPr lang="en-US" sz="1100" dirty="0"/>
              <a:t>Si </a:t>
            </a:r>
            <a:r>
              <a:rPr lang="en-US" sz="1100" dirty="0" err="1"/>
              <a:t>occupa</a:t>
            </a:r>
            <a:r>
              <a:rPr lang="en-US" sz="1100" dirty="0"/>
              <a:t> di </a:t>
            </a:r>
            <a:r>
              <a:rPr lang="en-US" sz="1100" dirty="0" err="1"/>
              <a:t>definire</a:t>
            </a:r>
            <a:r>
              <a:rPr lang="en-US" sz="1100" dirty="0"/>
              <a:t>:</a:t>
            </a:r>
          </a:p>
          <a:p>
            <a:pPr marL="0" indent="0" algn="just">
              <a:buNone/>
            </a:pPr>
            <a:r>
              <a:rPr lang="en-US" sz="1100" dirty="0" err="1"/>
              <a:t>Acquisizione</a:t>
            </a:r>
            <a:r>
              <a:rPr lang="en-US" sz="1100" dirty="0"/>
              <a:t>, </a:t>
            </a:r>
            <a:r>
              <a:rPr lang="en-US" sz="1100" dirty="0" err="1"/>
              <a:t>fornitura</a:t>
            </a:r>
            <a:r>
              <a:rPr lang="en-US" sz="1100" dirty="0"/>
              <a:t>, </a:t>
            </a:r>
            <a:r>
              <a:rPr lang="en-US" sz="1100" dirty="0" err="1"/>
              <a:t>sviluppo</a:t>
            </a:r>
            <a:r>
              <a:rPr lang="en-US" sz="1100" dirty="0"/>
              <a:t>, </a:t>
            </a:r>
            <a:r>
              <a:rPr lang="en-US" sz="1100" dirty="0" err="1"/>
              <a:t>operazioni</a:t>
            </a:r>
            <a:r>
              <a:rPr lang="en-US" sz="1100" dirty="0"/>
              <a:t>, </a:t>
            </a:r>
            <a:r>
              <a:rPr lang="en-US" sz="1100" dirty="0" err="1"/>
              <a:t>manutenzione</a:t>
            </a:r>
            <a:r>
              <a:rPr lang="en-US" sz="1100" dirty="0"/>
              <a:t>, </a:t>
            </a:r>
            <a:r>
              <a:rPr lang="en-US" sz="1100" dirty="0" err="1"/>
              <a:t>supporto</a:t>
            </a:r>
            <a:r>
              <a:rPr lang="en-US" sz="1100" dirty="0"/>
              <a:t>, </a:t>
            </a:r>
            <a:r>
              <a:rPr lang="en-US" sz="1100" dirty="0" err="1"/>
              <a:t>gestione</a:t>
            </a:r>
            <a:r>
              <a:rPr lang="en-US" sz="1100" dirty="0"/>
              <a:t>, </a:t>
            </a:r>
            <a:r>
              <a:rPr lang="en-US" sz="1100" dirty="0" err="1"/>
              <a:t>miglioramento</a:t>
            </a:r>
            <a:endParaRPr lang="en-US" sz="1100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4BA9CB1-D3EE-E851-3083-98DA049BFBF2}"/>
              </a:ext>
            </a:extLst>
          </p:cNvPr>
          <p:cNvSpPr/>
          <p:nvPr/>
        </p:nvSpPr>
        <p:spPr>
          <a:xfrm>
            <a:off x="6000061" y="4274571"/>
            <a:ext cx="548640" cy="0"/>
          </a:xfrm>
          <a:prstGeom prst="line">
            <a:avLst/>
          </a:prstGeom>
          <a:noFill/>
          <a:ln w="19050">
            <a:solidFill>
              <a:srgbClr val="165B9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D6C99AE6-5C68-7BC9-857F-396CAC810418}"/>
              </a:ext>
            </a:extLst>
          </p:cNvPr>
          <p:cNvSpPr/>
          <p:nvPr/>
        </p:nvSpPr>
        <p:spPr>
          <a:xfrm>
            <a:off x="6614162" y="3696467"/>
            <a:ext cx="2265679" cy="1246373"/>
          </a:xfrm>
          <a:prstGeom prst="rect">
            <a:avLst/>
          </a:prstGeom>
          <a:solidFill>
            <a:srgbClr val="FFF2D9"/>
          </a:solidFill>
          <a:ln w="12700">
            <a:solidFill>
              <a:srgbClr val="A9B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ECSS-E-40, 1999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0B1F3A"/>
                </a:solidFill>
              </a:rPr>
              <a:t>Tailoring per il </a:t>
            </a:r>
            <a:r>
              <a:rPr lang="en-US" sz="1100" dirty="0" err="1">
                <a:solidFill>
                  <a:srgbClr val="0B1F3A"/>
                </a:solidFill>
              </a:rPr>
              <a:t>settore</a:t>
            </a:r>
            <a:r>
              <a:rPr lang="en-US" sz="1100" dirty="0">
                <a:solidFill>
                  <a:srgbClr val="0B1F3A"/>
                </a:solidFill>
              </a:rPr>
              <a:t> </a:t>
            </a:r>
            <a:r>
              <a:rPr lang="en-US" sz="1100" dirty="0" err="1">
                <a:solidFill>
                  <a:srgbClr val="0B1F3A"/>
                </a:solidFill>
              </a:rPr>
              <a:t>spaziale</a:t>
            </a:r>
            <a:r>
              <a:rPr lang="en-US" sz="1100" dirty="0">
                <a:solidFill>
                  <a:srgbClr val="0B1F3A"/>
                </a:solidFill>
              </a:rPr>
              <a:t> di ISO/IEC 12207 </a:t>
            </a:r>
            <a:r>
              <a:rPr lang="en-US" sz="1100" dirty="0" err="1">
                <a:solidFill>
                  <a:srgbClr val="0B1F3A"/>
                </a:solidFill>
              </a:rPr>
              <a:t>dei</a:t>
            </a:r>
            <a:r>
              <a:rPr lang="en-US" sz="1100" dirty="0">
                <a:solidFill>
                  <a:srgbClr val="0B1F3A"/>
                </a:solidFill>
              </a:rPr>
              <a:t> </a:t>
            </a:r>
            <a:r>
              <a:rPr lang="en-US" sz="1100" b="1" dirty="0" err="1">
                <a:solidFill>
                  <a:srgbClr val="0B1F3A"/>
                </a:solidFill>
              </a:rPr>
              <a:t>processi</a:t>
            </a:r>
            <a:r>
              <a:rPr lang="en-US" sz="1100" b="1" dirty="0">
                <a:solidFill>
                  <a:srgbClr val="0B1F3A"/>
                </a:solidFill>
              </a:rPr>
              <a:t> di software engineering</a:t>
            </a:r>
            <a:endParaRPr lang="en-US" sz="1100" b="1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75603A2F-C240-BBCE-8A3F-B7426DF42A97}"/>
              </a:ext>
            </a:extLst>
          </p:cNvPr>
          <p:cNvSpPr/>
          <p:nvPr/>
        </p:nvSpPr>
        <p:spPr>
          <a:xfrm>
            <a:off x="584200" y="2675917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/>
              <a:t>Evoluzione</a:t>
            </a:r>
            <a:endParaRPr lang="en-US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E398D9-2C6B-F6BE-1264-B1ED85E34AE0}"/>
              </a:ext>
            </a:extLst>
          </p:cNvPr>
          <p:cNvSpPr txBox="1"/>
          <p:nvPr/>
        </p:nvSpPr>
        <p:spPr>
          <a:xfrm>
            <a:off x="668943" y="5546578"/>
            <a:ext cx="22926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b="1" dirty="0"/>
              <a:t>ESA-specifico</a:t>
            </a:r>
            <a:r>
              <a:rPr lang="it-IT" sz="1400" dirty="0"/>
              <a:t>, pensato per il modo in cui ESA gestiva i propri progetti software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9C6243-60CE-A128-FB22-83A656D0C30E}"/>
              </a:ext>
            </a:extLst>
          </p:cNvPr>
          <p:cNvSpPr txBox="1"/>
          <p:nvPr/>
        </p:nvSpPr>
        <p:spPr>
          <a:xfrm>
            <a:off x="3510280" y="5561522"/>
            <a:ext cx="24434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dirty="0"/>
              <a:t>Non nasce per lo spazio. </a:t>
            </a:r>
          </a:p>
          <a:p>
            <a:pPr algn="ctr"/>
            <a:r>
              <a:rPr lang="it-IT" sz="1400" dirty="0"/>
              <a:t>È </a:t>
            </a:r>
            <a:r>
              <a:rPr lang="it-IT" sz="1400" b="1" dirty="0"/>
              <a:t>generale</a:t>
            </a:r>
            <a:endParaRPr lang="en-US" sz="1400" b="1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CBE238E4-635B-876F-4887-04222F1E8E9E}"/>
              </a:ext>
            </a:extLst>
          </p:cNvPr>
          <p:cNvSpPr/>
          <p:nvPr/>
        </p:nvSpPr>
        <p:spPr>
          <a:xfrm>
            <a:off x="9428481" y="3696466"/>
            <a:ext cx="2265679" cy="1246369"/>
          </a:xfrm>
          <a:prstGeom prst="rect">
            <a:avLst/>
          </a:prstGeom>
          <a:solidFill>
            <a:srgbClr val="FFF2D9"/>
          </a:solidFill>
          <a:ln w="12700">
            <a:solidFill>
              <a:srgbClr val="A9B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ECSS-Q-ST-80, 1996</a:t>
            </a:r>
          </a:p>
          <a:p>
            <a:pPr algn="ctr"/>
            <a:r>
              <a:rPr lang="it-IT" sz="1100" dirty="0"/>
              <a:t>Tailoring per il settore spaziale di ISO/IEC 12207 degli aspetti di </a:t>
            </a:r>
            <a:r>
              <a:rPr lang="it-IT" sz="1100" b="1" dirty="0"/>
              <a:t>software product </a:t>
            </a:r>
            <a:r>
              <a:rPr lang="it-IT" sz="1100" b="1" dirty="0" err="1"/>
              <a:t>assurance</a:t>
            </a:r>
            <a:br>
              <a:rPr lang="it-IT" sz="1100" dirty="0"/>
            </a:br>
            <a:endParaRPr lang="en-US" sz="1100" dirty="0"/>
          </a:p>
        </p:txBody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6C0F2690-D6B7-04E8-6C4E-F5A66AAE2A6C}"/>
              </a:ext>
            </a:extLst>
          </p:cNvPr>
          <p:cNvSpPr/>
          <p:nvPr/>
        </p:nvSpPr>
        <p:spPr>
          <a:xfrm>
            <a:off x="1676401" y="5069840"/>
            <a:ext cx="0" cy="395119"/>
          </a:xfrm>
          <a:prstGeom prst="line">
            <a:avLst/>
          </a:prstGeom>
          <a:noFill/>
          <a:ln w="19050">
            <a:solidFill>
              <a:srgbClr val="165B9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5">
            <a:extLst>
              <a:ext uri="{FF2B5EF4-FFF2-40B4-BE49-F238E27FC236}">
                <a16:creationId xmlns:a16="http://schemas.microsoft.com/office/drawing/2014/main" id="{44392D6F-0E98-D784-A078-38A4B071C267}"/>
              </a:ext>
            </a:extLst>
          </p:cNvPr>
          <p:cNvSpPr/>
          <p:nvPr/>
        </p:nvSpPr>
        <p:spPr>
          <a:xfrm>
            <a:off x="4696461" y="5069840"/>
            <a:ext cx="0" cy="395119"/>
          </a:xfrm>
          <a:prstGeom prst="line">
            <a:avLst/>
          </a:prstGeom>
          <a:noFill/>
          <a:ln w="19050">
            <a:solidFill>
              <a:srgbClr val="165B9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C997E013-F639-AE3D-4979-E54865F7FCE5}"/>
              </a:ext>
            </a:extLst>
          </p:cNvPr>
          <p:cNvCxnSpPr>
            <a:cxnSpLocks/>
            <a:stCxn id="21" idx="2"/>
            <a:endCxn id="38" idx="2"/>
          </p:cNvCxnSpPr>
          <p:nvPr/>
        </p:nvCxnSpPr>
        <p:spPr>
          <a:xfrm rot="5400000" flipH="1" flipV="1">
            <a:off x="9154158" y="3535678"/>
            <a:ext cx="5" cy="2814319"/>
          </a:xfrm>
          <a:prstGeom prst="bentConnector3">
            <a:avLst>
              <a:gd name="adj1" fmla="val -4572000000"/>
            </a:avLst>
          </a:prstGeom>
          <a:ln w="19050">
            <a:solidFill>
              <a:srgbClr val="165B9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D59AA8B-86C8-0C09-F293-90654C9E7651}"/>
              </a:ext>
            </a:extLst>
          </p:cNvPr>
          <p:cNvCxnSpPr/>
          <p:nvPr/>
        </p:nvCxnSpPr>
        <p:spPr>
          <a:xfrm>
            <a:off x="9164321" y="5155079"/>
            <a:ext cx="0" cy="426720"/>
          </a:xfrm>
          <a:prstGeom prst="straightConnector1">
            <a:avLst/>
          </a:prstGeom>
          <a:ln w="19050">
            <a:solidFill>
              <a:srgbClr val="165B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21EA229-C965-657E-2FF1-50F2052EAC6E}"/>
              </a:ext>
            </a:extLst>
          </p:cNvPr>
          <p:cNvSpPr txBox="1"/>
          <p:nvPr/>
        </p:nvSpPr>
        <p:spPr>
          <a:xfrm>
            <a:off x="6829066" y="5546578"/>
            <a:ext cx="47838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dirty="0"/>
              <a:t>Adatta standard internazionali di software generali al </a:t>
            </a:r>
            <a:r>
              <a:rPr lang="it-IT" sz="1400" b="1" dirty="0"/>
              <a:t>modello europeo </a:t>
            </a:r>
            <a:r>
              <a:rPr lang="it-IT" sz="1400" dirty="0"/>
              <a:t>di </a:t>
            </a:r>
            <a:r>
              <a:rPr lang="it-IT" sz="1400" b="1" dirty="0"/>
              <a:t>ingegneria dei sistemi spaziali </a:t>
            </a:r>
            <a:r>
              <a:rPr lang="it-IT" sz="1400" dirty="0"/>
              <a:t>e </a:t>
            </a:r>
            <a:r>
              <a:rPr lang="it-IT" sz="1400" b="1" dirty="0"/>
              <a:t>gestione dei programmi spaziali</a:t>
            </a:r>
            <a:endParaRPr lang="en-US" sz="1400" b="1" dirty="0"/>
          </a:p>
        </p:txBody>
      </p:sp>
      <p:pic>
        <p:nvPicPr>
          <p:cNvPr id="53" name="Image 0" descr="/mnt/data/wide_clean_infographic_illustration_on_a_white_to.png">
            <a:extLst>
              <a:ext uri="{FF2B5EF4-FFF2-40B4-BE49-F238E27FC236}">
                <a16:creationId xmlns:a16="http://schemas.microsoft.com/office/drawing/2014/main" id="{05AB2413-C327-D381-C425-03E6C0532A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48" b="15628"/>
          <a:stretch>
            <a:fillRect/>
          </a:stretch>
        </p:blipFill>
        <p:spPr>
          <a:xfrm>
            <a:off x="7303827" y="667294"/>
            <a:ext cx="4309052" cy="18162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37349"/>
            <a:ext cx="56972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/>
              <a:t>APPLICAZIONE ECSS A STAR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" y="41691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/>
              <a:t>Set documentale minimo proposto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806940" y="4894515"/>
            <a:ext cx="1965960" cy="603504"/>
          </a:xfrm>
          <a:prstGeom prst="rect">
            <a:avLst/>
          </a:prstGeom>
          <a:solidFill>
            <a:srgbClr val="FFF2D9"/>
          </a:solidFill>
          <a:ln w="12700">
            <a:solidFill>
              <a:srgbClr val="A9BED5"/>
            </a:solidFill>
          </a:ln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</a:rPr>
              <a:t>IMP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</a:rPr>
              <a:t>Interface Management Plan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02920" y="6547104"/>
            <a:ext cx="9784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68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ECSS-E-ST-10-24C Rev.1 (2024), interface management process, Annex B/C/D</a:t>
            </a:r>
            <a:endParaRPr lang="en-US" sz="620" dirty="0"/>
          </a:p>
        </p:txBody>
      </p:sp>
      <p:sp>
        <p:nvSpPr>
          <p:cNvPr id="19" name="Text 16"/>
          <p:cNvSpPr/>
          <p:nvPr/>
        </p:nvSpPr>
        <p:spPr>
          <a:xfrm>
            <a:off x="10789920" y="650138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8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 standards study</a:t>
            </a:r>
            <a:endParaRPr lang="en-US" sz="650" dirty="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A3552338-9A5C-2352-1543-34573DDF75EA}"/>
              </a:ext>
            </a:extLst>
          </p:cNvPr>
          <p:cNvSpPr/>
          <p:nvPr/>
        </p:nvSpPr>
        <p:spPr>
          <a:xfrm>
            <a:off x="9462516" y="4169156"/>
            <a:ext cx="2472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26B8C7"/>
                </a:solidFill>
              </a:rPr>
              <a:t>U</a:t>
            </a:r>
            <a:r>
              <a:rPr lang="en-US" sz="1600" b="1" dirty="0" err="1">
                <a:solidFill>
                  <a:srgbClr val="26B8C7"/>
                </a:solidFill>
              </a:rPr>
              <a:t>lteriore</a:t>
            </a:r>
            <a:r>
              <a:rPr lang="en-US" sz="1600" b="1" dirty="0">
                <a:solidFill>
                  <a:srgbClr val="26B8C7"/>
                </a:solidFill>
              </a:rPr>
              <a:t> </a:t>
            </a:r>
            <a:r>
              <a:rPr lang="en-US" sz="1600" b="1" dirty="0" err="1">
                <a:solidFill>
                  <a:srgbClr val="26B8C7"/>
                </a:solidFill>
              </a:rPr>
              <a:t>documentazione</a:t>
            </a:r>
            <a:endParaRPr lang="en-US" sz="1600" b="1" dirty="0">
              <a:solidFill>
                <a:srgbClr val="26B8C7"/>
              </a:solidFill>
            </a:endParaRPr>
          </a:p>
          <a:p>
            <a:pPr marL="0" indent="0" algn="ctr">
              <a:buNone/>
            </a:pPr>
            <a:endParaRPr lang="en-US" sz="800" b="1" dirty="0">
              <a:solidFill>
                <a:srgbClr val="26B8C7"/>
              </a:solidFill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26B8C7"/>
                </a:solidFill>
              </a:rPr>
              <a:t>Da </a:t>
            </a:r>
            <a:r>
              <a:rPr lang="en-US" sz="1200" dirty="0" err="1">
                <a:solidFill>
                  <a:srgbClr val="26B8C7"/>
                </a:solidFill>
              </a:rPr>
              <a:t>approfondire</a:t>
            </a:r>
            <a:endParaRPr lang="en-US" sz="1200" dirty="0">
              <a:solidFill>
                <a:srgbClr val="26B8C7"/>
              </a:solidFill>
            </a:endParaRP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B8B1F113-1D71-DC23-6761-78E107BAFE36}"/>
              </a:ext>
            </a:extLst>
          </p:cNvPr>
          <p:cNvSpPr/>
          <p:nvPr/>
        </p:nvSpPr>
        <p:spPr>
          <a:xfrm>
            <a:off x="533400" y="1992534"/>
            <a:ext cx="5697221" cy="198618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• I moduli digital twin sono trattabili come ENDS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• Ogni ente mantiene ownership e responsabilità del proprio END e del proprio lato </a:t>
            </a:r>
            <a:r>
              <a:rPr lang="en-US" sz="1600" dirty="0" err="1">
                <a:solidFill>
                  <a:srgbClr val="263238"/>
                </a:solidFill>
              </a:rPr>
              <a:t>dell’interfaccia</a:t>
            </a:r>
            <a:endParaRPr lang="en-US" sz="1600" dirty="0">
              <a:solidFill>
                <a:srgbClr val="263238"/>
              </a:solidFill>
            </a:endParaRP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</a:rPr>
              <a:t>• </a:t>
            </a:r>
            <a:r>
              <a:rPr lang="en-US" sz="1600" dirty="0" err="1">
                <a:solidFill>
                  <a:srgbClr val="263238"/>
                </a:solidFill>
              </a:rPr>
              <a:t>L’integratore</a:t>
            </a:r>
            <a:r>
              <a:rPr lang="en-US" sz="1600" dirty="0">
                <a:solidFill>
                  <a:srgbClr val="263238"/>
                </a:solidFill>
              </a:rPr>
              <a:t> di STAR </a:t>
            </a:r>
            <a:r>
              <a:rPr lang="en-US" sz="1600" dirty="0" err="1">
                <a:solidFill>
                  <a:srgbClr val="263238"/>
                </a:solidFill>
              </a:rPr>
              <a:t>gestisce</a:t>
            </a:r>
            <a:r>
              <a:rPr lang="en-US" sz="1600" dirty="0">
                <a:solidFill>
                  <a:srgbClr val="263238"/>
                </a:solidFill>
              </a:rPr>
              <a:t> baseline, </a:t>
            </a:r>
            <a:r>
              <a:rPr lang="en-US" sz="1600" dirty="0" err="1">
                <a:solidFill>
                  <a:srgbClr val="263238"/>
                </a:solidFill>
              </a:rPr>
              <a:t>compatibilità</a:t>
            </a:r>
            <a:r>
              <a:rPr lang="en-US" sz="1600" dirty="0">
                <a:solidFill>
                  <a:srgbClr val="263238"/>
                </a:solidFill>
              </a:rPr>
              <a:t> e </a:t>
            </a:r>
            <a:r>
              <a:rPr lang="en-US" sz="1600" dirty="0" err="1">
                <a:solidFill>
                  <a:srgbClr val="263238"/>
                </a:solidFill>
              </a:rPr>
              <a:t>richieste</a:t>
            </a:r>
            <a:r>
              <a:rPr lang="en-US" sz="1600" dirty="0">
                <a:solidFill>
                  <a:srgbClr val="263238"/>
                </a:solidFill>
              </a:rPr>
              <a:t> di </a:t>
            </a:r>
            <a:r>
              <a:rPr lang="en-US" sz="1600" dirty="0" err="1">
                <a:solidFill>
                  <a:srgbClr val="263238"/>
                </a:solidFill>
              </a:rPr>
              <a:t>scambio</a:t>
            </a:r>
            <a:endParaRPr lang="en-US" sz="1600" dirty="0">
              <a:solidFill>
                <a:srgbClr val="263238"/>
              </a:solidFill>
            </a:endParaRPr>
          </a:p>
        </p:txBody>
      </p:sp>
      <p:pic>
        <p:nvPicPr>
          <p:cNvPr id="26" name="Image 0" descr="/mnt/data/a_clean_technical_infographic_diagram_scene_in_a.png">
            <a:extLst>
              <a:ext uri="{FF2B5EF4-FFF2-40B4-BE49-F238E27FC236}">
                <a16:creationId xmlns:a16="http://schemas.microsoft.com/office/drawing/2014/main" id="{8E446466-C31E-6E25-3354-BAFC84AA2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480" y="325622"/>
            <a:ext cx="5697221" cy="3206390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FEA9E7B-0FB5-B8D5-8FA0-0FA5FA3BD47C}"/>
              </a:ext>
            </a:extLst>
          </p:cNvPr>
          <p:cNvSpPr/>
          <p:nvPr/>
        </p:nvSpPr>
        <p:spPr>
          <a:xfrm>
            <a:off x="9364102" y="3982720"/>
            <a:ext cx="2665337" cy="218033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D98F19F-2747-12D6-6334-36F8132D7A7F}"/>
              </a:ext>
            </a:extLst>
          </p:cNvPr>
          <p:cNvGrpSpPr/>
          <p:nvPr/>
        </p:nvGrpSpPr>
        <p:grpSpPr>
          <a:xfrm>
            <a:off x="624840" y="4549457"/>
            <a:ext cx="8043671" cy="1846982"/>
            <a:chOff x="624840" y="4549457"/>
            <a:chExt cx="8043671" cy="1846982"/>
          </a:xfrm>
        </p:grpSpPr>
        <p:sp>
          <p:nvSpPr>
            <p:cNvPr id="8" name="Text 5"/>
            <p:cNvSpPr/>
            <p:nvPr/>
          </p:nvSpPr>
          <p:spPr>
            <a:xfrm>
              <a:off x="624840" y="4555489"/>
              <a:ext cx="1965960" cy="921765"/>
            </a:xfrm>
            <a:prstGeom prst="rect">
              <a:avLst/>
            </a:prstGeom>
            <a:solidFill>
              <a:srgbClr val="EEF7EF"/>
            </a:solidFill>
            <a:ln w="12700">
              <a:solidFill>
                <a:srgbClr val="A9BED5"/>
              </a:solidFill>
            </a:ln>
          </p:spPr>
          <p:txBody>
            <a:bodyPr wrap="square" lIns="635" tIns="635" rIns="635" bIns="635" rtlCol="0" anchor="ctr">
              <a:normAutofit fontScale="92500"/>
            </a:bodyPr>
            <a:lstStyle/>
            <a:p>
              <a:pPr marL="0" indent="0" algn="ctr">
                <a:buNone/>
              </a:pPr>
              <a:r>
                <a:rPr lang="en-US" sz="1450" b="1" dirty="0">
                  <a:solidFill>
                    <a:srgbClr val="0B1F3A"/>
                  </a:solidFill>
                </a:rPr>
                <a:t>IID (Interface Identification Document)</a:t>
              </a:r>
              <a:endParaRPr lang="en-US" sz="1450" dirty="0"/>
            </a:p>
            <a:p>
              <a:pPr marL="0" indent="0" algn="ctr">
                <a:buNone/>
              </a:pPr>
              <a:r>
                <a:rPr lang="en-US" sz="1450" b="1" dirty="0" err="1">
                  <a:solidFill>
                    <a:srgbClr val="0B1F3A"/>
                  </a:solidFill>
                </a:rPr>
                <a:t>Catalogo</a:t>
              </a:r>
              <a:r>
                <a:rPr lang="en-US" sz="1450" b="1" dirty="0">
                  <a:solidFill>
                    <a:srgbClr val="0B1F3A"/>
                  </a:solidFill>
                </a:rPr>
                <a:t> </a:t>
              </a:r>
              <a:r>
                <a:rPr lang="en-US" sz="1450" dirty="0">
                  <a:solidFill>
                    <a:srgbClr val="0B1F3A"/>
                  </a:solidFill>
                </a:rPr>
                <a:t>delle </a:t>
              </a:r>
              <a:r>
                <a:rPr lang="en-US" sz="1450" dirty="0" err="1">
                  <a:solidFill>
                    <a:srgbClr val="0B1F3A"/>
                  </a:solidFill>
                </a:rPr>
                <a:t>interfacce</a:t>
              </a:r>
              <a:r>
                <a:rPr lang="en-US" sz="1450" dirty="0">
                  <a:solidFill>
                    <a:srgbClr val="0B1F3A"/>
                  </a:solidFill>
                </a:rPr>
                <a:t> </a:t>
              </a:r>
              <a:r>
                <a:rPr lang="en-US" sz="1450" dirty="0" err="1">
                  <a:solidFill>
                    <a:srgbClr val="0B1F3A"/>
                  </a:solidFill>
                </a:rPr>
                <a:t>tra</a:t>
              </a:r>
              <a:r>
                <a:rPr lang="en-US" sz="1450" dirty="0">
                  <a:solidFill>
                    <a:srgbClr val="0B1F3A"/>
                  </a:solidFill>
                </a:rPr>
                <a:t> moduli</a:t>
              </a:r>
              <a:endParaRPr lang="en-US" sz="145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3633216" y="4555491"/>
              <a:ext cx="1959865" cy="921763"/>
            </a:xfrm>
            <a:prstGeom prst="rect">
              <a:avLst/>
            </a:prstGeom>
            <a:solidFill>
              <a:srgbClr val="F2EFFF"/>
            </a:solidFill>
            <a:ln w="12700">
              <a:solidFill>
                <a:srgbClr val="A9BED5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B1F3A"/>
                  </a:solidFill>
                </a:rPr>
                <a:t>IDD (Interface Definition Document)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450" b="1" dirty="0" err="1">
                  <a:solidFill>
                    <a:srgbClr val="0B1F3A"/>
                  </a:solidFill>
                </a:rPr>
                <a:t>Descrizione</a:t>
              </a:r>
              <a:r>
                <a:rPr lang="en-US" sz="1450" dirty="0">
                  <a:solidFill>
                    <a:srgbClr val="0B1F3A"/>
                  </a:solidFill>
                </a:rPr>
                <a:t> del modulo/</a:t>
              </a:r>
              <a:r>
                <a:rPr lang="en-US" sz="1450" b="1" dirty="0">
                  <a:solidFill>
                    <a:srgbClr val="0B1F3A"/>
                  </a:solidFill>
                </a:rPr>
                <a:t>END</a:t>
              </a:r>
              <a:endParaRPr lang="en-US" sz="145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6655168" y="4549457"/>
              <a:ext cx="1959862" cy="921764"/>
            </a:xfrm>
            <a:prstGeom prst="rect">
              <a:avLst/>
            </a:prstGeom>
            <a:solidFill>
              <a:srgbClr val="EAF4FF"/>
            </a:solidFill>
            <a:ln w="12700">
              <a:solidFill>
                <a:srgbClr val="A9BED5"/>
              </a:solidFill>
            </a:ln>
          </p:spPr>
          <p:txBody>
            <a:bodyPr wrap="square" lIns="635" tIns="635" rIns="635" bIns="635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450" b="1" dirty="0">
                  <a:solidFill>
                    <a:srgbClr val="0B1F3A"/>
                  </a:solidFill>
                </a:rPr>
                <a:t>ICD (Interface Control Document)</a:t>
              </a:r>
              <a:endParaRPr lang="en-US" sz="1450" dirty="0"/>
            </a:p>
            <a:p>
              <a:pPr marL="0" indent="0" algn="ctr">
                <a:buNone/>
              </a:pPr>
              <a:r>
                <a:rPr lang="en-US" sz="1450" b="1" dirty="0" err="1">
                  <a:solidFill>
                    <a:srgbClr val="0B1F3A"/>
                  </a:solidFill>
                </a:rPr>
                <a:t>Descrizione</a:t>
              </a:r>
              <a:r>
                <a:rPr lang="en-US" sz="1450" b="1" dirty="0">
                  <a:solidFill>
                    <a:srgbClr val="0B1F3A"/>
                  </a:solidFill>
                </a:rPr>
                <a:t> </a:t>
              </a:r>
              <a:r>
                <a:rPr lang="en-US" sz="1450" dirty="0" err="1">
                  <a:solidFill>
                    <a:srgbClr val="0B1F3A"/>
                  </a:solidFill>
                </a:rPr>
                <a:t>dell’</a:t>
              </a:r>
              <a:r>
                <a:rPr lang="en-US" sz="1450" b="1" dirty="0" err="1">
                  <a:solidFill>
                    <a:srgbClr val="0B1F3A"/>
                  </a:solidFill>
                </a:rPr>
                <a:t>interfaccia</a:t>
              </a:r>
              <a:r>
                <a:rPr lang="en-US" sz="1450" b="1" dirty="0">
                  <a:solidFill>
                    <a:srgbClr val="0B1F3A"/>
                  </a:solidFill>
                </a:rPr>
                <a:t> </a:t>
              </a:r>
              <a:r>
                <a:rPr lang="en-US" sz="1450" dirty="0" err="1">
                  <a:solidFill>
                    <a:srgbClr val="0B1F3A"/>
                  </a:solidFill>
                </a:rPr>
                <a:t>tra</a:t>
              </a:r>
              <a:r>
                <a:rPr lang="en-US" sz="1450" dirty="0">
                  <a:solidFill>
                    <a:srgbClr val="0B1F3A"/>
                  </a:solidFill>
                </a:rPr>
                <a:t> due moduli/</a:t>
              </a:r>
              <a:r>
                <a:rPr lang="en-US" sz="1450" b="1" dirty="0">
                  <a:solidFill>
                    <a:srgbClr val="0B1F3A"/>
                  </a:solidFill>
                </a:rPr>
                <a:t>ENDS</a:t>
              </a:r>
              <a:endParaRPr lang="en-US" sz="1450" b="1" dirty="0"/>
            </a:p>
          </p:txBody>
        </p:sp>
        <p:sp>
          <p:nvSpPr>
            <p:cNvPr id="21" name="Shape 6">
              <a:extLst>
                <a:ext uri="{FF2B5EF4-FFF2-40B4-BE49-F238E27FC236}">
                  <a16:creationId xmlns:a16="http://schemas.microsoft.com/office/drawing/2014/main" id="{E5858AC0-AEB0-343B-34FD-0554015C7C74}"/>
                </a:ext>
              </a:extLst>
            </p:cNvPr>
            <p:cNvSpPr/>
            <p:nvPr/>
          </p:nvSpPr>
          <p:spPr>
            <a:xfrm>
              <a:off x="2729484" y="5010339"/>
              <a:ext cx="704088" cy="0"/>
            </a:xfrm>
            <a:prstGeom prst="line">
              <a:avLst/>
            </a:prstGeom>
            <a:noFill/>
            <a:ln w="19050">
              <a:solidFill>
                <a:srgbClr val="165B9F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6">
              <a:extLst>
                <a:ext uri="{FF2B5EF4-FFF2-40B4-BE49-F238E27FC236}">
                  <a16:creationId xmlns:a16="http://schemas.microsoft.com/office/drawing/2014/main" id="{C241D801-80D7-A87C-A7D2-DCEFE28B354C}"/>
                </a:ext>
              </a:extLst>
            </p:cNvPr>
            <p:cNvSpPr/>
            <p:nvPr/>
          </p:nvSpPr>
          <p:spPr>
            <a:xfrm>
              <a:off x="5807964" y="5010339"/>
              <a:ext cx="704088" cy="0"/>
            </a:xfrm>
            <a:prstGeom prst="line">
              <a:avLst/>
            </a:prstGeom>
            <a:noFill/>
            <a:ln w="19050">
              <a:solidFill>
                <a:srgbClr val="165B9F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6">
              <a:extLst>
                <a:ext uri="{FF2B5EF4-FFF2-40B4-BE49-F238E27FC236}">
                  <a16:creationId xmlns:a16="http://schemas.microsoft.com/office/drawing/2014/main" id="{E62BB355-31BF-C142-1FBD-CC12CBCDC534}"/>
                </a:ext>
              </a:extLst>
            </p:cNvPr>
            <p:cNvSpPr/>
            <p:nvPr/>
          </p:nvSpPr>
          <p:spPr>
            <a:xfrm>
              <a:off x="1611884" y="5579299"/>
              <a:ext cx="0" cy="343982"/>
            </a:xfrm>
            <a:prstGeom prst="line">
              <a:avLst/>
            </a:prstGeom>
            <a:noFill/>
            <a:ln w="19050">
              <a:solidFill>
                <a:srgbClr val="165B9F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52C7472-1C1F-E8C5-16BD-DF273B05DDEA}"/>
                </a:ext>
              </a:extLst>
            </p:cNvPr>
            <p:cNvSpPr txBox="1"/>
            <p:nvPr/>
          </p:nvSpPr>
          <p:spPr>
            <a:xfrm>
              <a:off x="624841" y="5937997"/>
              <a:ext cx="1965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dirty="0"/>
                <a:t>Integratore </a:t>
              </a:r>
              <a:endParaRPr lang="en-US" sz="1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0AB15D2-92A4-C3EA-5580-2A8D62C19559}"/>
                </a:ext>
              </a:extLst>
            </p:cNvPr>
            <p:cNvSpPr txBox="1"/>
            <p:nvPr/>
          </p:nvSpPr>
          <p:spPr>
            <a:xfrm>
              <a:off x="3663696" y="5942554"/>
              <a:ext cx="1965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dirty="0"/>
                <a:t>Proprietario END </a:t>
              </a:r>
              <a:endParaRPr lang="en-US" sz="14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BF1FFEE-BA60-7584-2BE4-2379B7050681}"/>
                </a:ext>
              </a:extLst>
            </p:cNvPr>
            <p:cNvSpPr txBox="1"/>
            <p:nvPr/>
          </p:nvSpPr>
          <p:spPr>
            <a:xfrm>
              <a:off x="6702551" y="5873219"/>
              <a:ext cx="196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dirty="0"/>
                <a:t>Proprietario END-A; proprietario END-B </a:t>
              </a:r>
              <a:endParaRPr lang="en-US" sz="1400" dirty="0"/>
            </a:p>
          </p:txBody>
        </p:sp>
        <p:sp>
          <p:nvSpPr>
            <p:cNvPr id="32" name="Shape 6">
              <a:extLst>
                <a:ext uri="{FF2B5EF4-FFF2-40B4-BE49-F238E27FC236}">
                  <a16:creationId xmlns:a16="http://schemas.microsoft.com/office/drawing/2014/main" id="{C3EE4005-075F-E700-F96F-9404C96CF611}"/>
                </a:ext>
              </a:extLst>
            </p:cNvPr>
            <p:cNvSpPr/>
            <p:nvPr/>
          </p:nvSpPr>
          <p:spPr>
            <a:xfrm>
              <a:off x="4622800" y="5559708"/>
              <a:ext cx="0" cy="343982"/>
            </a:xfrm>
            <a:prstGeom prst="line">
              <a:avLst/>
            </a:prstGeom>
            <a:noFill/>
            <a:ln w="19050">
              <a:solidFill>
                <a:srgbClr val="165B9F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6">
              <a:extLst>
                <a:ext uri="{FF2B5EF4-FFF2-40B4-BE49-F238E27FC236}">
                  <a16:creationId xmlns:a16="http://schemas.microsoft.com/office/drawing/2014/main" id="{4D51DED5-4D5A-AED3-0E4D-DA2B72380581}"/>
                </a:ext>
              </a:extLst>
            </p:cNvPr>
            <p:cNvSpPr/>
            <p:nvPr/>
          </p:nvSpPr>
          <p:spPr>
            <a:xfrm>
              <a:off x="7685531" y="5559708"/>
              <a:ext cx="0" cy="343982"/>
            </a:xfrm>
            <a:prstGeom prst="line">
              <a:avLst/>
            </a:prstGeom>
            <a:noFill/>
            <a:ln w="19050">
              <a:solidFill>
                <a:srgbClr val="165B9F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 8">
            <a:extLst>
              <a:ext uri="{FF2B5EF4-FFF2-40B4-BE49-F238E27FC236}">
                <a16:creationId xmlns:a16="http://schemas.microsoft.com/office/drawing/2014/main" id="{7E0F63CC-83E0-F111-DA53-D8BC8CFD637A}"/>
              </a:ext>
            </a:extLst>
          </p:cNvPr>
          <p:cNvSpPr/>
          <p:nvPr/>
        </p:nvSpPr>
        <p:spPr>
          <a:xfrm>
            <a:off x="533400" y="317534"/>
            <a:ext cx="2265679" cy="1246373"/>
          </a:xfrm>
          <a:prstGeom prst="rect">
            <a:avLst/>
          </a:prstGeom>
          <a:solidFill>
            <a:srgbClr val="FFF2D9"/>
          </a:solidFill>
          <a:ln w="12700">
            <a:solidFill>
              <a:srgbClr val="A9B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ECSS-E-40, 1999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0B1F3A"/>
                </a:solidFill>
              </a:rPr>
              <a:t>Tailoring per il </a:t>
            </a:r>
            <a:r>
              <a:rPr lang="en-US" sz="1100" dirty="0" err="1">
                <a:solidFill>
                  <a:srgbClr val="0B1F3A"/>
                </a:solidFill>
              </a:rPr>
              <a:t>settore</a:t>
            </a:r>
            <a:r>
              <a:rPr lang="en-US" sz="1100" dirty="0">
                <a:solidFill>
                  <a:srgbClr val="0B1F3A"/>
                </a:solidFill>
              </a:rPr>
              <a:t> </a:t>
            </a:r>
            <a:r>
              <a:rPr lang="en-US" sz="1100" dirty="0" err="1">
                <a:solidFill>
                  <a:srgbClr val="0B1F3A"/>
                </a:solidFill>
              </a:rPr>
              <a:t>spaziale</a:t>
            </a:r>
            <a:r>
              <a:rPr lang="en-US" sz="1100" dirty="0">
                <a:solidFill>
                  <a:srgbClr val="0B1F3A"/>
                </a:solidFill>
              </a:rPr>
              <a:t> di ISO/IEC 12207 </a:t>
            </a:r>
            <a:r>
              <a:rPr lang="en-US" sz="1100" dirty="0" err="1">
                <a:solidFill>
                  <a:srgbClr val="0B1F3A"/>
                </a:solidFill>
              </a:rPr>
              <a:t>dei</a:t>
            </a:r>
            <a:r>
              <a:rPr lang="en-US" sz="1100" dirty="0">
                <a:solidFill>
                  <a:srgbClr val="0B1F3A"/>
                </a:solidFill>
              </a:rPr>
              <a:t> </a:t>
            </a:r>
            <a:r>
              <a:rPr lang="en-US" sz="1100" b="1" dirty="0" err="1">
                <a:solidFill>
                  <a:srgbClr val="0B1F3A"/>
                </a:solidFill>
              </a:rPr>
              <a:t>processi</a:t>
            </a:r>
            <a:r>
              <a:rPr lang="en-US" sz="1100" b="1" dirty="0">
                <a:solidFill>
                  <a:srgbClr val="0B1F3A"/>
                </a:solidFill>
              </a:rPr>
              <a:t> di software engineering</a:t>
            </a:r>
            <a:endParaRPr lang="en-US" sz="1100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6BBFD2-264B-3E7A-934F-3C160A948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5">
            <a:extLst>
              <a:ext uri="{FF2B5EF4-FFF2-40B4-BE49-F238E27FC236}">
                <a16:creationId xmlns:a16="http://schemas.microsoft.com/office/drawing/2014/main" id="{A39F16A5-9C9D-EF24-E60E-69B898E97C2D}"/>
              </a:ext>
            </a:extLst>
          </p:cNvPr>
          <p:cNvSpPr/>
          <p:nvPr/>
        </p:nvSpPr>
        <p:spPr>
          <a:xfrm>
            <a:off x="502920" y="6547104"/>
            <a:ext cx="9784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68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ECSS-E-ST-10-24C Rev.1 (2024), interface management process, Annex B/C/D.</a:t>
            </a:r>
            <a:endParaRPr lang="en-US" sz="62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225DE8E-BC3E-E1C8-2451-DC0555516164}"/>
              </a:ext>
            </a:extLst>
          </p:cNvPr>
          <p:cNvSpPr/>
          <p:nvPr/>
        </p:nvSpPr>
        <p:spPr>
          <a:xfrm>
            <a:off x="10789920" y="650138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8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 standards study</a:t>
            </a:r>
            <a:endParaRPr lang="en-US" sz="650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E5AF0E58-6B41-9B51-003F-9B93B9B4E52D}"/>
              </a:ext>
            </a:extLst>
          </p:cNvPr>
          <p:cNvSpPr/>
          <p:nvPr/>
        </p:nvSpPr>
        <p:spPr>
          <a:xfrm>
            <a:off x="61903" y="193069"/>
            <a:ext cx="3894325" cy="756056"/>
          </a:xfrm>
          <a:prstGeom prst="rect">
            <a:avLst/>
          </a:prstGeom>
          <a:solidFill>
            <a:srgbClr val="EEF7EF"/>
          </a:solidFill>
          <a:ln w="12700">
            <a:solidFill>
              <a:srgbClr val="A9B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</a:rPr>
              <a:t>IID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 err="1">
                <a:solidFill>
                  <a:srgbClr val="0B1F3A"/>
                </a:solidFill>
              </a:rPr>
              <a:t>Catalogo</a:t>
            </a:r>
            <a:r>
              <a:rPr lang="en-US" sz="1450" b="1" dirty="0">
                <a:solidFill>
                  <a:srgbClr val="0B1F3A"/>
                </a:solidFill>
              </a:rPr>
              <a:t> </a:t>
            </a:r>
            <a:r>
              <a:rPr lang="en-US" sz="1450" dirty="0">
                <a:solidFill>
                  <a:srgbClr val="0B1F3A"/>
                </a:solidFill>
              </a:rPr>
              <a:t>delle </a:t>
            </a:r>
            <a:r>
              <a:rPr lang="en-US" sz="1450" dirty="0" err="1">
                <a:solidFill>
                  <a:srgbClr val="0B1F3A"/>
                </a:solidFill>
              </a:rPr>
              <a:t>interfacce</a:t>
            </a:r>
            <a:r>
              <a:rPr lang="en-US" sz="1450" dirty="0">
                <a:solidFill>
                  <a:srgbClr val="0B1F3A"/>
                </a:solidFill>
              </a:rPr>
              <a:t> </a:t>
            </a:r>
            <a:r>
              <a:rPr lang="en-US" sz="1450" dirty="0" err="1">
                <a:solidFill>
                  <a:srgbClr val="0B1F3A"/>
                </a:solidFill>
              </a:rPr>
              <a:t>tra</a:t>
            </a:r>
            <a:r>
              <a:rPr lang="en-US" sz="1450" dirty="0">
                <a:solidFill>
                  <a:srgbClr val="0B1F3A"/>
                </a:solidFill>
              </a:rPr>
              <a:t> moduli</a:t>
            </a:r>
            <a:endParaRPr lang="en-US" sz="1450" dirty="0"/>
          </a:p>
        </p:txBody>
      </p:sp>
      <p:sp>
        <p:nvSpPr>
          <p:cNvPr id="4" name="Text 9">
            <a:extLst>
              <a:ext uri="{FF2B5EF4-FFF2-40B4-BE49-F238E27FC236}">
                <a16:creationId xmlns:a16="http://schemas.microsoft.com/office/drawing/2014/main" id="{BF000548-1A98-04DF-CCCB-0EF26AE9DB6B}"/>
              </a:ext>
            </a:extLst>
          </p:cNvPr>
          <p:cNvSpPr/>
          <p:nvPr/>
        </p:nvSpPr>
        <p:spPr>
          <a:xfrm>
            <a:off x="4154874" y="188325"/>
            <a:ext cx="3882251" cy="756054"/>
          </a:xfrm>
          <a:prstGeom prst="rect">
            <a:avLst/>
          </a:prstGeom>
          <a:solidFill>
            <a:srgbClr val="F2EFFF"/>
          </a:solidFill>
          <a:ln w="12700">
            <a:solidFill>
              <a:srgbClr val="A9B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</a:rPr>
              <a:t>IDD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 err="1">
                <a:solidFill>
                  <a:srgbClr val="0B1F3A"/>
                </a:solidFill>
              </a:rPr>
              <a:t>Descrizione</a:t>
            </a:r>
            <a:r>
              <a:rPr lang="en-US" sz="1450" dirty="0">
                <a:solidFill>
                  <a:srgbClr val="0B1F3A"/>
                </a:solidFill>
              </a:rPr>
              <a:t> del modulo/</a:t>
            </a:r>
            <a:r>
              <a:rPr lang="en-US" sz="1450" b="1" dirty="0">
                <a:solidFill>
                  <a:srgbClr val="0B1F3A"/>
                </a:solidFill>
              </a:rPr>
              <a:t>END</a:t>
            </a:r>
            <a:endParaRPr lang="en-US" sz="1450" dirty="0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0FA879CA-7EDF-B7DD-A938-00AFB8AAFA62}"/>
              </a:ext>
            </a:extLst>
          </p:cNvPr>
          <p:cNvSpPr/>
          <p:nvPr/>
        </p:nvSpPr>
        <p:spPr>
          <a:xfrm>
            <a:off x="8235771" y="193070"/>
            <a:ext cx="3882245" cy="756055"/>
          </a:xfrm>
          <a:prstGeom prst="rect">
            <a:avLst/>
          </a:prstGeom>
          <a:solidFill>
            <a:srgbClr val="EAF4FF"/>
          </a:solidFill>
          <a:ln w="12700">
            <a:solidFill>
              <a:srgbClr val="A9B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</a:rPr>
              <a:t>ICD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 err="1">
                <a:solidFill>
                  <a:srgbClr val="0B1F3A"/>
                </a:solidFill>
              </a:rPr>
              <a:t>Descrizione</a:t>
            </a:r>
            <a:r>
              <a:rPr lang="en-US" sz="1450" b="1" dirty="0">
                <a:solidFill>
                  <a:srgbClr val="0B1F3A"/>
                </a:solidFill>
              </a:rPr>
              <a:t> </a:t>
            </a:r>
            <a:r>
              <a:rPr lang="en-US" sz="1450" dirty="0" err="1">
                <a:solidFill>
                  <a:srgbClr val="0B1F3A"/>
                </a:solidFill>
              </a:rPr>
              <a:t>dell’</a:t>
            </a:r>
            <a:r>
              <a:rPr lang="en-US" sz="1450" b="1" dirty="0" err="1">
                <a:solidFill>
                  <a:srgbClr val="0B1F3A"/>
                </a:solidFill>
              </a:rPr>
              <a:t>interfaccia</a:t>
            </a:r>
            <a:r>
              <a:rPr lang="en-US" sz="1450" b="1" dirty="0">
                <a:solidFill>
                  <a:srgbClr val="0B1F3A"/>
                </a:solidFill>
              </a:rPr>
              <a:t> </a:t>
            </a:r>
            <a:r>
              <a:rPr lang="en-US" sz="1450" dirty="0" err="1">
                <a:solidFill>
                  <a:srgbClr val="0B1F3A"/>
                </a:solidFill>
              </a:rPr>
              <a:t>tra</a:t>
            </a:r>
            <a:r>
              <a:rPr lang="en-US" sz="1450" dirty="0">
                <a:solidFill>
                  <a:srgbClr val="0B1F3A"/>
                </a:solidFill>
              </a:rPr>
              <a:t> due moduli/</a:t>
            </a:r>
            <a:r>
              <a:rPr lang="en-US" sz="1450" b="1" dirty="0">
                <a:solidFill>
                  <a:srgbClr val="0B1F3A"/>
                </a:solidFill>
              </a:rPr>
              <a:t>ENDS</a:t>
            </a:r>
            <a:endParaRPr lang="en-US" sz="145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98EFED-5AF9-237B-D0A9-F1661895F6B9}"/>
              </a:ext>
            </a:extLst>
          </p:cNvPr>
          <p:cNvSpPr txBox="1"/>
          <p:nvPr/>
        </p:nvSpPr>
        <p:spPr>
          <a:xfrm>
            <a:off x="4059535" y="1020761"/>
            <a:ext cx="424414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Interface Definition </a:t>
            </a:r>
            <a:r>
              <a:rPr lang="it-IT" sz="1400" b="1" dirty="0" err="1"/>
              <a:t>Document</a:t>
            </a:r>
            <a:endParaRPr lang="it-IT" sz="1400" b="1" dirty="0"/>
          </a:p>
          <a:p>
            <a:pPr marL="342900" indent="-342900">
              <a:buAutoNum type="arabicPeriod"/>
            </a:pPr>
            <a:r>
              <a:rPr lang="it-IT" sz="1400" b="1" dirty="0" err="1"/>
              <a:t>Introduction</a:t>
            </a:r>
            <a:endParaRPr lang="it-IT" sz="1400" b="1" dirty="0"/>
          </a:p>
          <a:p>
            <a:pPr lvl="1"/>
            <a:r>
              <a:rPr lang="it-IT" sz="1400" b="1" dirty="0"/>
              <a:t>1.1. </a:t>
            </a:r>
            <a:r>
              <a:rPr lang="it-IT" sz="1400" b="1" dirty="0" err="1"/>
              <a:t>Functionalities</a:t>
            </a:r>
            <a:r>
              <a:rPr lang="it-IT" sz="1400" b="1" dirty="0"/>
              <a:t> </a:t>
            </a:r>
            <a:r>
              <a:rPr lang="it-IT" sz="1400" b="1" dirty="0" err="1"/>
              <a:t>description</a:t>
            </a:r>
            <a:endParaRPr lang="it-IT" sz="1400" b="1" dirty="0"/>
          </a:p>
          <a:p>
            <a:pPr lvl="1"/>
            <a:r>
              <a:rPr lang="it-IT" sz="1400" b="1" dirty="0"/>
              <a:t>1.2. Use case </a:t>
            </a:r>
            <a:r>
              <a:rPr lang="it-IT" sz="1400" b="1" dirty="0" err="1"/>
              <a:t>scenarios</a:t>
            </a:r>
            <a:endParaRPr lang="it-IT" sz="1400" b="1" dirty="0"/>
          </a:p>
          <a:p>
            <a:pPr marL="342900" indent="-342900">
              <a:buAutoNum type="arabicPeriod"/>
            </a:pPr>
            <a:r>
              <a:rPr lang="it-IT" sz="1400" b="1" dirty="0" err="1"/>
              <a:t>Responsability</a:t>
            </a:r>
            <a:endParaRPr lang="it-IT" sz="1400" b="1" dirty="0"/>
          </a:p>
          <a:p>
            <a:pPr marL="342900" indent="-342900">
              <a:buAutoNum type="arabicPeriod"/>
            </a:pPr>
            <a:r>
              <a:rPr lang="it-IT" sz="1400" b="1" dirty="0" err="1"/>
              <a:t>Applicable</a:t>
            </a:r>
            <a:r>
              <a:rPr lang="it-IT" sz="1400" b="1" dirty="0"/>
              <a:t> and </a:t>
            </a:r>
            <a:r>
              <a:rPr lang="it-IT" sz="1400" b="1" dirty="0" err="1"/>
              <a:t>reference</a:t>
            </a:r>
            <a:r>
              <a:rPr lang="it-IT" sz="1400" b="1" dirty="0"/>
              <a:t> </a:t>
            </a:r>
            <a:r>
              <a:rPr lang="it-IT" sz="1400" b="1" dirty="0" err="1"/>
              <a:t>documents</a:t>
            </a:r>
            <a:endParaRPr lang="it-IT" sz="1400" b="1" dirty="0"/>
          </a:p>
          <a:p>
            <a:pPr marL="342900" indent="-342900">
              <a:buAutoNum type="arabicPeriod"/>
            </a:pPr>
            <a:r>
              <a:rPr lang="it-IT" sz="1400" b="1" dirty="0"/>
              <a:t>Definition of </a:t>
            </a:r>
            <a:r>
              <a:rPr lang="it-IT" sz="1400" b="1" dirty="0" err="1"/>
              <a:t>terms</a:t>
            </a:r>
            <a:r>
              <a:rPr lang="it-IT" sz="1400" b="1" dirty="0"/>
              <a:t> and </a:t>
            </a:r>
            <a:r>
              <a:rPr lang="it-IT" sz="1400" b="1" dirty="0" err="1"/>
              <a:t>abbreviated</a:t>
            </a:r>
            <a:r>
              <a:rPr lang="it-IT" sz="1400" b="1" dirty="0"/>
              <a:t> </a:t>
            </a:r>
            <a:r>
              <a:rPr lang="it-IT" sz="1400" b="1" dirty="0" err="1"/>
              <a:t>terms</a:t>
            </a:r>
            <a:endParaRPr lang="it-IT" sz="1400" b="1" dirty="0"/>
          </a:p>
          <a:p>
            <a:pPr marL="342900" indent="-342900">
              <a:buAutoNum type="arabicPeriod"/>
            </a:pPr>
            <a:r>
              <a:rPr lang="it-IT" sz="1400" b="1" dirty="0"/>
              <a:t>Interface end </a:t>
            </a:r>
            <a:r>
              <a:rPr lang="it-IT" sz="1400" b="1" dirty="0" err="1"/>
              <a:t>definition</a:t>
            </a:r>
            <a:endParaRPr lang="it-IT" sz="1400" b="1" dirty="0"/>
          </a:p>
          <a:p>
            <a:pPr lvl="1"/>
            <a:r>
              <a:rPr lang="it-IT" sz="1400" b="1" dirty="0"/>
              <a:t>5.1. Interface end </a:t>
            </a:r>
            <a:r>
              <a:rPr lang="it-IT" sz="1400" b="1" dirty="0" err="1"/>
              <a:t>description</a:t>
            </a:r>
            <a:r>
              <a:rPr lang="it-IT" sz="1400" b="1" dirty="0"/>
              <a:t> and data </a:t>
            </a:r>
            <a:r>
              <a:rPr lang="it-IT" sz="1400" b="1" dirty="0" err="1"/>
              <a:t>definition</a:t>
            </a:r>
            <a:endParaRPr lang="it-IT" sz="1400" b="1" dirty="0"/>
          </a:p>
          <a:p>
            <a:pPr lvl="1"/>
            <a:r>
              <a:rPr lang="it-IT" sz="1400" b="1" dirty="0"/>
              <a:t>5.2. Units of </a:t>
            </a:r>
            <a:r>
              <a:rPr lang="it-IT" sz="1400" b="1" dirty="0" err="1"/>
              <a:t>measure</a:t>
            </a:r>
            <a:r>
              <a:rPr lang="it-IT" sz="1400" b="1" dirty="0"/>
              <a:t> </a:t>
            </a:r>
            <a:r>
              <a:rPr lang="it-IT" sz="1400" b="1" dirty="0" err="1"/>
              <a:t>including</a:t>
            </a:r>
            <a:r>
              <a:rPr lang="it-IT" sz="1400" b="1" dirty="0"/>
              <a:t> scale of </a:t>
            </a:r>
            <a:r>
              <a:rPr lang="it-IT" sz="1400" b="1" dirty="0" err="1"/>
              <a:t>measure</a:t>
            </a:r>
            <a:endParaRPr lang="it-IT" sz="1400" b="1" dirty="0"/>
          </a:p>
          <a:p>
            <a:pPr lvl="1"/>
            <a:r>
              <a:rPr lang="it-IT" sz="1400" b="1" dirty="0"/>
              <a:t>5.3. </a:t>
            </a:r>
            <a:r>
              <a:rPr lang="it-IT" sz="1400" b="1" dirty="0" err="1"/>
              <a:t>Tolerances</a:t>
            </a:r>
            <a:r>
              <a:rPr lang="it-IT" sz="1400" b="1" dirty="0"/>
              <a:t> or </a:t>
            </a:r>
            <a:r>
              <a:rPr lang="it-IT" sz="1400" b="1" dirty="0" err="1"/>
              <a:t>required</a:t>
            </a:r>
            <a:r>
              <a:rPr lang="it-IT" sz="1400" b="1" dirty="0"/>
              <a:t> </a:t>
            </a:r>
            <a:r>
              <a:rPr lang="it-IT" sz="1400" b="1" dirty="0" err="1"/>
              <a:t>accuracies</a:t>
            </a:r>
            <a:endParaRPr lang="it-IT" sz="1400" b="1" dirty="0"/>
          </a:p>
          <a:p>
            <a:pPr lvl="1"/>
            <a:r>
              <a:rPr lang="it-IT" sz="1400" b="1" dirty="0"/>
              <a:t>5.4. In case of </a:t>
            </a:r>
            <a:r>
              <a:rPr lang="it-IT" sz="1400" b="1" dirty="0" err="1"/>
              <a:t>using</a:t>
            </a:r>
            <a:r>
              <a:rPr lang="it-IT" sz="1400" b="1" dirty="0"/>
              <a:t> non-SI </a:t>
            </a:r>
            <a:r>
              <a:rPr lang="it-IT" sz="1400" b="1" dirty="0" err="1"/>
              <a:t>quantities</a:t>
            </a:r>
            <a:r>
              <a:rPr lang="it-IT" sz="1400" b="1" dirty="0"/>
              <a:t> or </a:t>
            </a:r>
            <a:r>
              <a:rPr lang="it-IT" sz="1400" b="1" dirty="0" err="1"/>
              <a:t>units</a:t>
            </a:r>
            <a:r>
              <a:rPr lang="it-IT" sz="1400" b="1" dirty="0"/>
              <a:t>, </a:t>
            </a:r>
            <a:r>
              <a:rPr lang="it-IT" sz="1400" b="1" dirty="0" err="1"/>
              <a:t>conversions</a:t>
            </a:r>
            <a:r>
              <a:rPr lang="it-IT" sz="1400" b="1" dirty="0"/>
              <a:t> and conventions</a:t>
            </a:r>
          </a:p>
          <a:p>
            <a:pPr lvl="1"/>
            <a:r>
              <a:rPr lang="it-IT" sz="1400" b="1" dirty="0"/>
              <a:t>5.5. Interface </a:t>
            </a:r>
            <a:r>
              <a:rPr lang="it-IT" sz="1400" b="1" dirty="0" err="1"/>
              <a:t>plane</a:t>
            </a:r>
            <a:r>
              <a:rPr lang="it-IT" sz="1400" b="1" dirty="0"/>
              <a:t> </a:t>
            </a:r>
            <a:r>
              <a:rPr lang="it-IT" sz="1400" b="1" dirty="0" err="1"/>
              <a:t>implementation</a:t>
            </a:r>
            <a:endParaRPr lang="it-IT" sz="1400" b="1" dirty="0"/>
          </a:p>
          <a:p>
            <a:pPr lvl="1"/>
            <a:r>
              <a:rPr lang="it-IT" sz="1400" b="1" dirty="0"/>
              <a:t>5.6. Interface end </a:t>
            </a:r>
            <a:r>
              <a:rPr lang="it-IT" sz="1400" b="1" dirty="0" err="1"/>
              <a:t>behaviour</a:t>
            </a:r>
            <a:endParaRPr lang="it-IT" sz="1400" b="1" dirty="0"/>
          </a:p>
          <a:p>
            <a:pPr lvl="1"/>
            <a:r>
              <a:rPr lang="it-IT" sz="1400" b="1" dirty="0"/>
              <a:t>5.7. Interface end data</a:t>
            </a:r>
          </a:p>
          <a:p>
            <a:pPr marL="342900" indent="-342900">
              <a:buAutoNum type="arabicPeriod"/>
            </a:pPr>
            <a:r>
              <a:rPr lang="it-IT" sz="1400" b="1" dirty="0"/>
              <a:t>Special </a:t>
            </a:r>
            <a:r>
              <a:rPr lang="it-IT" sz="1400" b="1" dirty="0" err="1"/>
              <a:t>Remarks</a:t>
            </a:r>
            <a:endParaRPr lang="it-IT" sz="1400" b="1" dirty="0"/>
          </a:p>
          <a:p>
            <a:pPr marL="342900" indent="-342900">
              <a:buAutoNum type="arabicPeriod"/>
            </a:pPr>
            <a:r>
              <a:rPr lang="it-IT" sz="1400" b="1" dirty="0"/>
              <a:t>Software</a:t>
            </a:r>
          </a:p>
          <a:p>
            <a:pPr lvl="1"/>
            <a:r>
              <a:rPr lang="it-IT" sz="1400" b="1" dirty="0"/>
              <a:t>7.1. Operating system</a:t>
            </a:r>
          </a:p>
          <a:p>
            <a:pPr lvl="1"/>
            <a:r>
              <a:rPr lang="it-IT" sz="1400" b="1" dirty="0"/>
              <a:t>7.2. Operating hardware</a:t>
            </a:r>
          </a:p>
          <a:p>
            <a:pPr lvl="1"/>
            <a:r>
              <a:rPr lang="it-IT" sz="1400" b="1" dirty="0"/>
              <a:t>7.3. </a:t>
            </a:r>
            <a:r>
              <a:rPr lang="it-IT" sz="1400" b="1" dirty="0" err="1"/>
              <a:t>Required</a:t>
            </a:r>
            <a:r>
              <a:rPr lang="it-IT" sz="1400" b="1" dirty="0"/>
              <a:t> software libraries</a:t>
            </a:r>
          </a:p>
          <a:p>
            <a:pPr lvl="1"/>
            <a:r>
              <a:rPr lang="it-IT" sz="1400" b="1" dirty="0"/>
              <a:t>7.4. </a:t>
            </a:r>
            <a:r>
              <a:rPr lang="it-IT" sz="1400" b="1" dirty="0" err="1"/>
              <a:t>Required</a:t>
            </a:r>
            <a:r>
              <a:rPr lang="it-IT" sz="1400" b="1" dirty="0"/>
              <a:t> </a:t>
            </a:r>
            <a:r>
              <a:rPr lang="it-IT" sz="1400" b="1" dirty="0" err="1"/>
              <a:t>compiler</a:t>
            </a:r>
            <a:r>
              <a:rPr lang="it-IT" sz="1400" b="1" dirty="0"/>
              <a:t>, build </a:t>
            </a:r>
            <a:r>
              <a:rPr lang="it-IT" sz="1400" b="1" dirty="0" err="1"/>
              <a:t>environment</a:t>
            </a:r>
            <a:endParaRPr lang="it-IT" sz="1400" b="1" dirty="0"/>
          </a:p>
          <a:p>
            <a:pPr lvl="1"/>
            <a:r>
              <a:rPr lang="it-IT" sz="1400" b="1" dirty="0"/>
              <a:t>7.5. API </a:t>
            </a:r>
            <a:r>
              <a:rPr lang="it-IT" sz="1400" b="1" dirty="0" err="1"/>
              <a:t>definition</a:t>
            </a:r>
            <a:endParaRPr lang="it-IT" sz="1400" b="1" dirty="0"/>
          </a:p>
          <a:p>
            <a:pPr lvl="1"/>
            <a:r>
              <a:rPr lang="it-IT" sz="1400" b="1" dirty="0"/>
              <a:t>7.6. </a:t>
            </a:r>
            <a:r>
              <a:rPr lang="it-IT" sz="1400" b="1" dirty="0" err="1"/>
              <a:t>Errors</a:t>
            </a:r>
            <a:r>
              <a:rPr lang="it-IT" sz="1400" b="1" dirty="0"/>
              <a:t> and </a:t>
            </a:r>
            <a:r>
              <a:rPr lang="it-IT" sz="1400" b="1" dirty="0" err="1"/>
              <a:t>warnings</a:t>
            </a:r>
            <a:r>
              <a:rPr lang="it-IT" sz="1400" b="1" dirty="0"/>
              <a:t> </a:t>
            </a:r>
            <a:r>
              <a:rPr lang="it-IT" sz="1400" b="1" dirty="0" err="1"/>
              <a:t>returned</a:t>
            </a:r>
            <a:endParaRPr lang="it-IT" sz="1400" b="1" dirty="0"/>
          </a:p>
          <a:p>
            <a:pPr lvl="1"/>
            <a:r>
              <a:rPr lang="it-IT" sz="1400" b="1" dirty="0"/>
              <a:t>7.7. </a:t>
            </a:r>
            <a:r>
              <a:rPr lang="it-IT" sz="1400" b="1" dirty="0" err="1"/>
              <a:t>Map</a:t>
            </a:r>
            <a:r>
              <a:rPr lang="it-IT" sz="1400" b="1" dirty="0"/>
              <a:t> of inputs/outputs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D8BBB5-EE8C-8E59-88FB-A1ED78579AF4}"/>
              </a:ext>
            </a:extLst>
          </p:cNvPr>
          <p:cNvSpPr txBox="1"/>
          <p:nvPr/>
        </p:nvSpPr>
        <p:spPr>
          <a:xfrm>
            <a:off x="37427" y="1020761"/>
            <a:ext cx="419003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Interface </a:t>
            </a:r>
            <a:r>
              <a:rPr lang="it-IT" sz="1400" b="1" dirty="0" err="1"/>
              <a:t>Identification</a:t>
            </a:r>
            <a:r>
              <a:rPr lang="it-IT" sz="1400" b="1" dirty="0"/>
              <a:t> </a:t>
            </a:r>
            <a:r>
              <a:rPr lang="it-IT" sz="1400" b="1" dirty="0" err="1"/>
              <a:t>Document</a:t>
            </a:r>
            <a:endParaRPr lang="it-IT" sz="1400" b="1" dirty="0"/>
          </a:p>
          <a:p>
            <a:pPr marL="342900" indent="-342900">
              <a:buAutoNum type="arabicPeriod"/>
            </a:pPr>
            <a:r>
              <a:rPr lang="it-IT" sz="1400" b="1" dirty="0"/>
              <a:t>Purpose and </a:t>
            </a:r>
            <a:r>
              <a:rPr lang="it-IT" sz="1400" b="1" dirty="0" err="1"/>
              <a:t>objective</a:t>
            </a:r>
            <a:endParaRPr lang="it-IT" sz="1400" b="1" dirty="0"/>
          </a:p>
          <a:p>
            <a:pPr marL="342900" indent="-342900">
              <a:buAutoNum type="arabicPeriod"/>
            </a:pPr>
            <a:r>
              <a:rPr lang="it-IT" sz="1400" b="1" dirty="0"/>
              <a:t>Scope and </a:t>
            </a:r>
            <a:r>
              <a:rPr lang="it-IT" sz="1400" b="1" dirty="0" err="1"/>
              <a:t>content</a:t>
            </a:r>
            <a:endParaRPr lang="it-IT" sz="1400" b="1" dirty="0"/>
          </a:p>
          <a:p>
            <a:pPr lvl="1"/>
            <a:r>
              <a:rPr lang="it-IT" sz="1400" b="1" dirty="0"/>
              <a:t>2.1. </a:t>
            </a:r>
            <a:r>
              <a:rPr lang="it-IT" sz="1400" b="1" dirty="0" err="1"/>
              <a:t>Introduction</a:t>
            </a:r>
            <a:endParaRPr lang="it-IT" sz="1400" b="1" dirty="0"/>
          </a:p>
          <a:p>
            <a:pPr lvl="1"/>
            <a:r>
              <a:rPr lang="it-IT" sz="1400" b="1" dirty="0"/>
              <a:t>2.2. </a:t>
            </a:r>
            <a:r>
              <a:rPr lang="it-IT" sz="1400" b="1" dirty="0" err="1"/>
              <a:t>Applicable</a:t>
            </a:r>
            <a:r>
              <a:rPr lang="it-IT" sz="1400" b="1" dirty="0"/>
              <a:t> and </a:t>
            </a:r>
            <a:r>
              <a:rPr lang="it-IT" sz="1400" b="1" dirty="0" err="1"/>
              <a:t>reference</a:t>
            </a:r>
            <a:r>
              <a:rPr lang="it-IT" sz="1400" b="1" dirty="0"/>
              <a:t> </a:t>
            </a:r>
            <a:r>
              <a:rPr lang="it-IT" sz="1400" b="1" dirty="0" err="1"/>
              <a:t>documents</a:t>
            </a:r>
            <a:endParaRPr lang="it-IT" sz="1400" b="1" dirty="0"/>
          </a:p>
          <a:p>
            <a:pPr lvl="1"/>
            <a:r>
              <a:rPr lang="it-IT" sz="1400" b="1" dirty="0"/>
              <a:t>2.3. Interface list</a:t>
            </a:r>
          </a:p>
          <a:p>
            <a:pPr marL="342900" indent="-342900">
              <a:buAutoNum type="arabicPeriod"/>
            </a:pPr>
            <a:r>
              <a:rPr lang="it-IT" sz="1400" b="1" dirty="0"/>
              <a:t>Special </a:t>
            </a:r>
            <a:r>
              <a:rPr lang="it-IT" sz="1400" b="1" dirty="0" err="1"/>
              <a:t>Remarks</a:t>
            </a:r>
            <a:endParaRPr lang="it-IT" sz="1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1CC6CC-D628-6770-BE59-F33DDEDC94E6}"/>
              </a:ext>
            </a:extLst>
          </p:cNvPr>
          <p:cNvSpPr txBox="1"/>
          <p:nvPr/>
        </p:nvSpPr>
        <p:spPr>
          <a:xfrm>
            <a:off x="8303678" y="1020761"/>
            <a:ext cx="385089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Interface Control </a:t>
            </a:r>
            <a:r>
              <a:rPr lang="it-IT" sz="1400" b="1" dirty="0" err="1"/>
              <a:t>Document</a:t>
            </a:r>
            <a:endParaRPr lang="it-IT" sz="1400" b="1" dirty="0"/>
          </a:p>
          <a:p>
            <a:pPr marL="342900" indent="-342900">
              <a:buAutoNum type="arabicPeriod"/>
            </a:pPr>
            <a:r>
              <a:rPr lang="it-IT" sz="1400" b="1" dirty="0" err="1"/>
              <a:t>Introduction</a:t>
            </a:r>
            <a:endParaRPr lang="it-IT" sz="1400" b="1" dirty="0"/>
          </a:p>
          <a:p>
            <a:pPr marL="342900" indent="-342900">
              <a:buAutoNum type="arabicPeriod"/>
            </a:pPr>
            <a:r>
              <a:rPr lang="it-IT" sz="1400" b="1" dirty="0" err="1"/>
              <a:t>Responsability</a:t>
            </a:r>
            <a:endParaRPr lang="it-IT" sz="1400" b="1" dirty="0"/>
          </a:p>
          <a:p>
            <a:pPr marL="342900" indent="-342900">
              <a:buAutoNum type="arabicPeriod"/>
            </a:pPr>
            <a:r>
              <a:rPr lang="it-IT" sz="1400" b="1" dirty="0" err="1"/>
              <a:t>Applicable</a:t>
            </a:r>
            <a:r>
              <a:rPr lang="it-IT" sz="1400" b="1" dirty="0"/>
              <a:t> and </a:t>
            </a:r>
            <a:r>
              <a:rPr lang="it-IT" sz="1400" b="1" dirty="0" err="1"/>
              <a:t>reference</a:t>
            </a:r>
            <a:r>
              <a:rPr lang="it-IT" sz="1400" b="1" dirty="0"/>
              <a:t> </a:t>
            </a:r>
            <a:r>
              <a:rPr lang="it-IT" sz="1400" b="1" dirty="0" err="1"/>
              <a:t>documents</a:t>
            </a:r>
            <a:endParaRPr lang="it-IT" sz="1400" b="1" dirty="0"/>
          </a:p>
          <a:p>
            <a:pPr marL="342900" indent="-342900">
              <a:buAutoNum type="arabicPeriod"/>
            </a:pPr>
            <a:r>
              <a:rPr lang="it-IT" sz="1400" b="1" dirty="0"/>
              <a:t>Definition of </a:t>
            </a:r>
            <a:r>
              <a:rPr lang="it-IT" sz="1400" b="1" dirty="0" err="1"/>
              <a:t>terms</a:t>
            </a:r>
            <a:r>
              <a:rPr lang="it-IT" sz="1400" b="1" dirty="0"/>
              <a:t> and </a:t>
            </a:r>
            <a:r>
              <a:rPr lang="it-IT" sz="1400" b="1" dirty="0" err="1"/>
              <a:t>abbreviated</a:t>
            </a:r>
            <a:r>
              <a:rPr lang="it-IT" sz="1400" b="1" dirty="0"/>
              <a:t> </a:t>
            </a:r>
            <a:r>
              <a:rPr lang="it-IT" sz="1400" b="1" dirty="0" err="1"/>
              <a:t>terms</a:t>
            </a:r>
            <a:endParaRPr lang="it-IT" sz="1400" b="1" dirty="0"/>
          </a:p>
          <a:p>
            <a:pPr marL="342900" indent="-342900">
              <a:buAutoNum type="arabicPeriod"/>
            </a:pPr>
            <a:r>
              <a:rPr lang="it-IT" sz="1400" b="1" dirty="0"/>
              <a:t>Interface end </a:t>
            </a:r>
            <a:r>
              <a:rPr lang="it-IT" sz="1400" b="1" dirty="0" err="1"/>
              <a:t>definition</a:t>
            </a:r>
            <a:endParaRPr lang="it-IT" sz="1400" b="1" dirty="0"/>
          </a:p>
          <a:p>
            <a:pPr lvl="1"/>
            <a:r>
              <a:rPr lang="it-IT" sz="1400" b="1" dirty="0"/>
              <a:t>5.1. Interface </a:t>
            </a:r>
            <a:r>
              <a:rPr lang="it-IT" sz="1400" b="1" dirty="0" err="1"/>
              <a:t>plane</a:t>
            </a:r>
            <a:r>
              <a:rPr lang="it-IT" sz="1400" b="1" dirty="0"/>
              <a:t> </a:t>
            </a:r>
            <a:r>
              <a:rPr lang="it-IT" sz="1400" b="1" dirty="0" err="1"/>
              <a:t>definition</a:t>
            </a:r>
            <a:endParaRPr lang="it-IT" sz="1400" b="1" dirty="0"/>
          </a:p>
          <a:p>
            <a:pPr lvl="1"/>
            <a:r>
              <a:rPr lang="it-IT" sz="1400" b="1" dirty="0"/>
              <a:t>5.2. Interface </a:t>
            </a:r>
            <a:r>
              <a:rPr lang="it-IT" sz="1400" b="1" dirty="0" err="1"/>
              <a:t>behaviour</a:t>
            </a:r>
            <a:r>
              <a:rPr lang="it-IT" sz="1400" b="1" dirty="0"/>
              <a:t> </a:t>
            </a:r>
            <a:r>
              <a:rPr lang="it-IT" sz="1400" b="1" dirty="0" err="1"/>
              <a:t>identification</a:t>
            </a:r>
            <a:r>
              <a:rPr lang="it-IT" sz="1400" b="1" dirty="0"/>
              <a:t>, </a:t>
            </a:r>
            <a:r>
              <a:rPr lang="it-IT" sz="1400" b="1" dirty="0" err="1"/>
              <a:t>including</a:t>
            </a:r>
            <a:r>
              <a:rPr lang="it-IT" sz="1400" b="1" dirty="0"/>
              <a:t> </a:t>
            </a:r>
            <a:r>
              <a:rPr lang="it-IT" sz="1400" b="1" dirty="0" err="1"/>
              <a:t>limitation</a:t>
            </a:r>
            <a:r>
              <a:rPr lang="it-IT" sz="1400" b="1" dirty="0"/>
              <a:t> of use</a:t>
            </a:r>
          </a:p>
          <a:p>
            <a:pPr lvl="1"/>
            <a:r>
              <a:rPr lang="it-IT" sz="1400" b="1" dirty="0"/>
              <a:t>5.3. Interface </a:t>
            </a:r>
            <a:r>
              <a:rPr lang="it-IT" sz="1400" b="1" dirty="0" err="1"/>
              <a:t>description</a:t>
            </a:r>
            <a:endParaRPr lang="it-IT" sz="1400" b="1" dirty="0"/>
          </a:p>
          <a:p>
            <a:pPr lvl="1"/>
            <a:r>
              <a:rPr lang="it-IT" sz="1400" b="1" dirty="0"/>
              <a:t>5.4. Data </a:t>
            </a:r>
            <a:r>
              <a:rPr lang="it-IT" sz="1400" b="1" dirty="0" err="1"/>
              <a:t>affecting</a:t>
            </a:r>
            <a:r>
              <a:rPr lang="it-IT" sz="1400" b="1" dirty="0"/>
              <a:t> the </a:t>
            </a:r>
            <a:r>
              <a:rPr lang="it-IT" sz="1400" b="1" dirty="0" err="1"/>
              <a:t>interface</a:t>
            </a:r>
            <a:r>
              <a:rPr lang="it-IT" sz="1400" b="1" dirty="0"/>
              <a:t> </a:t>
            </a:r>
            <a:r>
              <a:rPr lang="it-IT" sz="1400" b="1" dirty="0" err="1"/>
              <a:t>definition</a:t>
            </a:r>
            <a:endParaRPr lang="it-IT" sz="1400" b="1" dirty="0"/>
          </a:p>
          <a:p>
            <a:pPr lvl="1"/>
            <a:r>
              <a:rPr lang="it-IT" sz="1400" b="1" dirty="0"/>
              <a:t>5.5. Units of </a:t>
            </a:r>
            <a:r>
              <a:rPr lang="it-IT" sz="1400" b="1" dirty="0" err="1"/>
              <a:t>measure</a:t>
            </a:r>
            <a:r>
              <a:rPr lang="it-IT" sz="1400" b="1" dirty="0"/>
              <a:t> </a:t>
            </a:r>
            <a:r>
              <a:rPr lang="it-IT" sz="1400" b="1" dirty="0" err="1"/>
              <a:t>including</a:t>
            </a:r>
            <a:r>
              <a:rPr lang="it-IT" sz="1400" b="1" dirty="0"/>
              <a:t> scale of </a:t>
            </a:r>
            <a:r>
              <a:rPr lang="it-IT" sz="1400" b="1" dirty="0" err="1"/>
              <a:t>measure</a:t>
            </a:r>
            <a:endParaRPr lang="it-IT" sz="1400" b="1" dirty="0"/>
          </a:p>
          <a:p>
            <a:pPr lvl="1"/>
            <a:r>
              <a:rPr lang="it-IT" sz="1400" b="1" dirty="0"/>
              <a:t>5.6. </a:t>
            </a:r>
            <a:r>
              <a:rPr lang="it-IT" sz="1400" b="1" dirty="0" err="1"/>
              <a:t>Tolerances</a:t>
            </a:r>
            <a:r>
              <a:rPr lang="it-IT" sz="1400" b="1" dirty="0"/>
              <a:t> or </a:t>
            </a:r>
            <a:r>
              <a:rPr lang="it-IT" sz="1400" b="1" dirty="0" err="1"/>
              <a:t>required</a:t>
            </a:r>
            <a:r>
              <a:rPr lang="it-IT" sz="1400" b="1" dirty="0"/>
              <a:t> </a:t>
            </a:r>
            <a:r>
              <a:rPr lang="it-IT" sz="1400" b="1" dirty="0" err="1"/>
              <a:t>accuracies</a:t>
            </a:r>
            <a:endParaRPr lang="it-IT" sz="1400" b="1" dirty="0"/>
          </a:p>
          <a:p>
            <a:pPr lvl="1"/>
            <a:r>
              <a:rPr lang="it-IT" sz="1400" b="1" dirty="0"/>
              <a:t>5.7. In case of </a:t>
            </a:r>
            <a:r>
              <a:rPr lang="it-IT" sz="1400" b="1" dirty="0" err="1"/>
              <a:t>using</a:t>
            </a:r>
            <a:r>
              <a:rPr lang="it-IT" sz="1400" b="1" dirty="0"/>
              <a:t> non-SI </a:t>
            </a:r>
            <a:r>
              <a:rPr lang="it-IT" sz="1400" b="1" dirty="0" err="1"/>
              <a:t>quantities</a:t>
            </a:r>
            <a:r>
              <a:rPr lang="it-IT" sz="1400" b="1" dirty="0"/>
              <a:t> or </a:t>
            </a:r>
            <a:r>
              <a:rPr lang="it-IT" sz="1400" b="1" dirty="0" err="1"/>
              <a:t>units</a:t>
            </a:r>
            <a:r>
              <a:rPr lang="it-IT" sz="1400" b="1" dirty="0"/>
              <a:t>, </a:t>
            </a:r>
            <a:r>
              <a:rPr lang="it-IT" sz="1400" b="1" dirty="0" err="1"/>
              <a:t>conversions</a:t>
            </a:r>
            <a:r>
              <a:rPr lang="it-IT" sz="1400" b="1" dirty="0"/>
              <a:t> and conventions</a:t>
            </a:r>
          </a:p>
          <a:p>
            <a:pPr marL="342900" indent="-342900">
              <a:buAutoNum type="arabicPeriod"/>
            </a:pPr>
            <a:r>
              <a:rPr lang="it-IT" sz="1400" b="1" dirty="0"/>
              <a:t>Special </a:t>
            </a:r>
            <a:r>
              <a:rPr lang="it-IT" sz="1400" b="1" dirty="0" err="1"/>
              <a:t>Remarks</a:t>
            </a:r>
            <a:endParaRPr lang="it-IT" sz="1400" b="1" dirty="0"/>
          </a:p>
        </p:txBody>
      </p:sp>
    </p:spTree>
    <p:extLst>
      <p:ext uri="{BB962C8B-B14F-4D97-AF65-F5344CB8AC3E}">
        <p14:creationId xmlns:p14="http://schemas.microsoft.com/office/powerpoint/2010/main" val="1913816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E93B5-B068-A5A2-9D67-65798EC35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97FB65F1-FC39-953E-0A4D-E535EB3C8E67}"/>
              </a:ext>
            </a:extLst>
          </p:cNvPr>
          <p:cNvSpPr/>
          <p:nvPr/>
        </p:nvSpPr>
        <p:spPr>
          <a:xfrm>
            <a:off x="584200" y="179492"/>
            <a:ext cx="8183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STAR: Standard </a:t>
            </a:r>
            <a:r>
              <a:rPr lang="en-US" sz="2900" b="1" dirty="0" err="1">
                <a:solidFill>
                  <a:srgbClr val="0B1F3A"/>
                </a:solidFill>
              </a:rPr>
              <a:t>documentazione</a:t>
            </a:r>
            <a:r>
              <a:rPr lang="en-US" sz="2900" b="1" dirty="0">
                <a:solidFill>
                  <a:srgbClr val="0B1F3A"/>
                </a:solidFill>
              </a:rPr>
              <a:t> e </a:t>
            </a:r>
            <a:r>
              <a:rPr lang="en-US" sz="2900" b="1" dirty="0" err="1">
                <a:solidFill>
                  <a:srgbClr val="0B1F3A"/>
                </a:solidFill>
              </a:rPr>
              <a:t>architettura</a:t>
            </a:r>
            <a:endParaRPr lang="en-US" sz="29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73970B4E-C801-16A7-DB2B-391438F5E11F}"/>
              </a:ext>
            </a:extLst>
          </p:cNvPr>
          <p:cNvSpPr/>
          <p:nvPr/>
        </p:nvSpPr>
        <p:spPr>
          <a:xfrm>
            <a:off x="313228" y="608273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26B8C7"/>
                </a:solidFill>
              </a:rPr>
              <a:t>Proposta</a:t>
            </a:r>
            <a:r>
              <a:rPr lang="en-US" b="1" dirty="0">
                <a:solidFill>
                  <a:srgbClr val="26B8C7"/>
                </a:solidFill>
              </a:rPr>
              <a:t> </a:t>
            </a:r>
            <a:r>
              <a:rPr lang="en-US" b="1" dirty="0" err="1">
                <a:solidFill>
                  <a:srgbClr val="26B8C7"/>
                </a:solidFill>
              </a:rPr>
              <a:t>architettura</a:t>
            </a:r>
            <a:endParaRPr lang="en-US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B73974E-F9E9-0DBA-772B-BA4F4B0C3A29}"/>
              </a:ext>
            </a:extLst>
          </p:cNvPr>
          <p:cNvSpPr/>
          <p:nvPr/>
        </p:nvSpPr>
        <p:spPr>
          <a:xfrm>
            <a:off x="579120" y="3268611"/>
            <a:ext cx="114122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950" b="1" dirty="0" err="1">
                <a:solidFill>
                  <a:srgbClr val="0B1F3A"/>
                </a:solidFill>
              </a:rPr>
              <a:t>A</a:t>
            </a:r>
            <a:r>
              <a:rPr lang="en-US" sz="2000" b="1" dirty="0" err="1">
                <a:solidFill>
                  <a:srgbClr val="0B1F3A"/>
                </a:solidFill>
              </a:rPr>
              <a:t>pplicazione</a:t>
            </a:r>
            <a:r>
              <a:rPr lang="en-US" sz="2000" b="1" dirty="0">
                <a:solidFill>
                  <a:srgbClr val="0B1F3A"/>
                </a:solidFill>
              </a:rPr>
              <a:t> a STAR in </a:t>
            </a:r>
            <a:r>
              <a:rPr lang="en-US" sz="2000" b="1" dirty="0" err="1">
                <a:solidFill>
                  <a:srgbClr val="0B1F3A"/>
                </a:solidFill>
              </a:rPr>
              <a:t>fase</a:t>
            </a:r>
            <a:r>
              <a:rPr lang="en-US" sz="2000" b="1" dirty="0">
                <a:solidFill>
                  <a:srgbClr val="0B1F3A"/>
                </a:solidFill>
              </a:rPr>
              <a:t> di studio, </a:t>
            </a:r>
            <a:r>
              <a:rPr lang="en-US" sz="2000" dirty="0" err="1">
                <a:solidFill>
                  <a:srgbClr val="0B1F3A"/>
                </a:solidFill>
              </a:rPr>
              <a:t>sulla</a:t>
            </a:r>
            <a:r>
              <a:rPr lang="en-US" sz="2000" dirty="0">
                <a:solidFill>
                  <a:srgbClr val="0B1F3A"/>
                </a:solidFill>
              </a:rPr>
              <a:t> base del paper</a:t>
            </a:r>
            <a:r>
              <a:rPr lang="en-US" sz="2000" b="1" dirty="0">
                <a:solidFill>
                  <a:srgbClr val="0B1F3A"/>
                </a:solidFill>
              </a:rPr>
              <a:t> </a:t>
            </a:r>
            <a:r>
              <a:rPr lang="en-US" sz="2000" i="1" dirty="0"/>
              <a:t>Designing an ISO 23247-compliant Hybrid Digital Twin Architecture for industry </a:t>
            </a:r>
            <a:r>
              <a:rPr lang="en-US" sz="2000" dirty="0"/>
              <a:t>di Alfredo Garro e Alessandro Sorrenti, </a:t>
            </a:r>
            <a:r>
              <a:rPr lang="en-US" sz="2000" dirty="0" err="1"/>
              <a:t>che</a:t>
            </a:r>
            <a:r>
              <a:rPr lang="en-US" sz="2000" dirty="0"/>
              <a:t> </a:t>
            </a:r>
            <a:r>
              <a:rPr lang="en-US" sz="2000" dirty="0" err="1"/>
              <a:t>propongono</a:t>
            </a:r>
            <a:r>
              <a:rPr lang="en-US" sz="2000" dirty="0"/>
              <a:t> un </a:t>
            </a:r>
            <a:r>
              <a:rPr lang="en-US" sz="2000" dirty="0" err="1"/>
              <a:t>modello</a:t>
            </a:r>
            <a:r>
              <a:rPr lang="en-US" sz="2000" dirty="0"/>
              <a:t> di Digital Twin </a:t>
            </a:r>
            <a:r>
              <a:rPr lang="en-US" sz="2000" dirty="0" err="1"/>
              <a:t>Ibrido</a:t>
            </a:r>
            <a:r>
              <a:rPr lang="en-US" sz="2000" dirty="0"/>
              <a:t>, </a:t>
            </a:r>
            <a:r>
              <a:rPr lang="en-US" sz="2000" dirty="0" err="1"/>
              <a:t>che</a:t>
            </a:r>
            <a:r>
              <a:rPr lang="en-US" sz="2000" dirty="0"/>
              <a:t> integra </a:t>
            </a:r>
            <a:r>
              <a:rPr lang="en-US" sz="2000" dirty="0" err="1"/>
              <a:t>modelli</a:t>
            </a:r>
            <a:r>
              <a:rPr lang="en-US" sz="2000" dirty="0"/>
              <a:t> physics-based con </a:t>
            </a:r>
            <a:r>
              <a:rPr lang="en-US" sz="2000" dirty="0" err="1"/>
              <a:t>approcci</a:t>
            </a:r>
            <a:r>
              <a:rPr lang="en-US" sz="2000" dirty="0"/>
              <a:t> data-driven</a:t>
            </a:r>
            <a:endParaRPr lang="en-US" sz="2000" i="1" dirty="0"/>
          </a:p>
        </p:txBody>
      </p:sp>
      <p:sp>
        <p:nvSpPr>
          <p:cNvPr id="9" name="Text 3"/>
          <p:cNvSpPr/>
          <p:nvPr/>
        </p:nvSpPr>
        <p:spPr>
          <a:xfrm>
            <a:off x="584200" y="443215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5B9F"/>
                </a:solidFill>
              </a:rPr>
              <a:t>Mappatura preliminare su STAR</a:t>
            </a:r>
            <a:endParaRPr lang="en-US" sz="1550" dirty="0"/>
          </a:p>
        </p:txBody>
      </p:sp>
      <p:sp>
        <p:nvSpPr>
          <p:cNvPr id="10" name="Text 4"/>
          <p:cNvSpPr/>
          <p:nvPr/>
        </p:nvSpPr>
        <p:spPr>
          <a:xfrm>
            <a:off x="579120" y="4861068"/>
            <a:ext cx="2560320" cy="640080"/>
          </a:xfrm>
          <a:prstGeom prst="rect">
            <a:avLst/>
          </a:prstGeom>
          <a:solidFill>
            <a:srgbClr val="EAF4FF"/>
          </a:solidFill>
          <a:ln w="12700">
            <a:solidFill>
              <a:srgbClr val="A9BED5"/>
            </a:solidFill>
          </a:ln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</a:rPr>
              <a:t>OME (Observable Manufacturing Element)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</a:rPr>
              <a:t>missione / satellite / asset fisico</a:t>
            </a:r>
            <a:endParaRPr lang="en-US" sz="1450" dirty="0"/>
          </a:p>
        </p:txBody>
      </p:sp>
      <p:sp>
        <p:nvSpPr>
          <p:cNvPr id="11" name="Text 5"/>
          <p:cNvSpPr/>
          <p:nvPr/>
        </p:nvSpPr>
        <p:spPr>
          <a:xfrm>
            <a:off x="9293860" y="4861068"/>
            <a:ext cx="2697480" cy="640080"/>
          </a:xfrm>
          <a:prstGeom prst="rect">
            <a:avLst/>
          </a:prstGeom>
          <a:solidFill>
            <a:srgbClr val="EEF7EF"/>
          </a:solidFill>
          <a:ln w="12700">
            <a:solidFill>
              <a:srgbClr val="A9BED5"/>
            </a:solidFill>
          </a:ln>
        </p:spPr>
        <p:txBody>
          <a:bodyPr wrap="square" lIns="635" tIns="635" rIns="635" bIns="635" rtlCol="0" anchor="ctr">
            <a:normAutofit fontScale="92500"/>
          </a:bodyPr>
          <a:lstStyle/>
          <a:p>
            <a:pPr algn="ctr"/>
            <a:r>
              <a:rPr lang="en-US" sz="1450" b="1" dirty="0">
                <a:solidFill>
                  <a:srgbClr val="0B1F3A"/>
                </a:solidFill>
              </a:rPr>
              <a:t>DCDCE </a:t>
            </a:r>
            <a:r>
              <a:rPr lang="en-US" sz="1400" b="1" dirty="0">
                <a:solidFill>
                  <a:srgbClr val="0B1F3A"/>
                </a:solidFill>
              </a:rPr>
              <a:t>(</a:t>
            </a:r>
            <a:r>
              <a:rPr lang="en-US" sz="1400" b="1" dirty="0"/>
              <a:t>Data Collection and Device Control)</a:t>
            </a:r>
          </a:p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</a:rPr>
              <a:t>ingestion dati, adapter, telemetry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3438313" y="4861068"/>
            <a:ext cx="2560320" cy="640080"/>
          </a:xfrm>
          <a:prstGeom prst="rect">
            <a:avLst/>
          </a:prstGeom>
          <a:solidFill>
            <a:srgbClr val="FFF2D9"/>
          </a:solidFill>
          <a:ln w="12700">
            <a:solidFill>
              <a:srgbClr val="A9B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</a:rPr>
              <a:t>CE (Core Entity)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</a:rPr>
              <a:t>orchestratore, moduli DT, KG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6297506" y="4861068"/>
            <a:ext cx="2697480" cy="640080"/>
          </a:xfrm>
          <a:prstGeom prst="rect">
            <a:avLst/>
          </a:prstGeom>
          <a:solidFill>
            <a:srgbClr val="F2EFFF"/>
          </a:solidFill>
          <a:ln w="12700">
            <a:solidFill>
              <a:srgbClr val="A9B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</a:rPr>
              <a:t>UE (User Entity)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</a:rPr>
              <a:t>AI copilot, dashboard, engineer</a:t>
            </a:r>
            <a:endParaRPr lang="en-US" sz="145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D5FC4FC4-F964-9518-2871-E9B422CFF6CF}"/>
              </a:ext>
            </a:extLst>
          </p:cNvPr>
          <p:cNvSpPr/>
          <p:nvPr/>
        </p:nvSpPr>
        <p:spPr>
          <a:xfrm>
            <a:off x="502920" y="6547104"/>
            <a:ext cx="9784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68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Garro &amp; Sorrenti (2026), ISO 23247-compliant Hybrid Digital Twin Architecture; ISO 23247 domains OME, DCDCE, CE, UE.</a:t>
            </a:r>
            <a:endParaRPr lang="en-US" sz="62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30C98242-56BB-8D9F-19FC-2E2B7DE8C08C}"/>
              </a:ext>
            </a:extLst>
          </p:cNvPr>
          <p:cNvSpPr/>
          <p:nvPr/>
        </p:nvSpPr>
        <p:spPr>
          <a:xfrm>
            <a:off x="591396" y="1871919"/>
            <a:ext cx="114122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b="1" dirty="0">
                <a:solidFill>
                  <a:srgbClr val="0B1F3A"/>
                </a:solidFill>
              </a:rPr>
              <a:t>ISO 23247: Standard </a:t>
            </a:r>
            <a:r>
              <a:rPr lang="en-US" b="1" dirty="0" err="1">
                <a:solidFill>
                  <a:srgbClr val="0B1F3A"/>
                </a:solidFill>
              </a:rPr>
              <a:t>internazionale</a:t>
            </a:r>
            <a:r>
              <a:rPr lang="en-US" b="1" dirty="0">
                <a:solidFill>
                  <a:srgbClr val="0B1F3A"/>
                </a:solidFill>
              </a:rPr>
              <a:t> per Digital Twin framework for manufacturing</a:t>
            </a:r>
          </a:p>
          <a:p>
            <a:r>
              <a:rPr lang="en-US" b="1" dirty="0">
                <a:solidFill>
                  <a:srgbClr val="0B1F3A"/>
                </a:solidFill>
              </a:rPr>
              <a:t> </a:t>
            </a:r>
            <a:r>
              <a:rPr lang="en-US" dirty="0">
                <a:solidFill>
                  <a:srgbClr val="0B1F3A"/>
                </a:solidFill>
              </a:rPr>
              <a:t>Non ha </a:t>
            </a:r>
            <a:r>
              <a:rPr lang="en-US" dirty="0" err="1">
                <a:solidFill>
                  <a:srgbClr val="0B1F3A"/>
                </a:solidFill>
              </a:rPr>
              <a:t>una</a:t>
            </a:r>
            <a:r>
              <a:rPr lang="en-US" dirty="0">
                <a:solidFill>
                  <a:srgbClr val="0B1F3A"/>
                </a:solidFill>
              </a:rPr>
              <a:t> </a:t>
            </a:r>
            <a:r>
              <a:rPr lang="en-US" dirty="0" err="1">
                <a:solidFill>
                  <a:srgbClr val="0B1F3A"/>
                </a:solidFill>
              </a:rPr>
              <a:t>corrispondenza</a:t>
            </a:r>
            <a:r>
              <a:rPr lang="en-US" dirty="0">
                <a:solidFill>
                  <a:srgbClr val="0B1F3A"/>
                </a:solidFill>
              </a:rPr>
              <a:t> </a:t>
            </a:r>
            <a:r>
              <a:rPr lang="en-US" dirty="0" err="1">
                <a:solidFill>
                  <a:srgbClr val="0B1F3A"/>
                </a:solidFill>
              </a:rPr>
              <a:t>diretta</a:t>
            </a:r>
            <a:r>
              <a:rPr lang="en-US" dirty="0">
                <a:solidFill>
                  <a:srgbClr val="0B1F3A"/>
                </a:solidFill>
              </a:rPr>
              <a:t> ad un ECSS, </a:t>
            </a:r>
            <a:r>
              <a:rPr lang="en-US" dirty="0" err="1">
                <a:solidFill>
                  <a:srgbClr val="0B1F3A"/>
                </a:solidFill>
              </a:rPr>
              <a:t>va</a:t>
            </a:r>
            <a:r>
              <a:rPr lang="en-US" dirty="0">
                <a:solidFill>
                  <a:srgbClr val="0B1F3A"/>
                </a:solidFill>
              </a:rPr>
              <a:t> </a:t>
            </a:r>
            <a:r>
              <a:rPr lang="en-US" dirty="0" err="1">
                <a:solidFill>
                  <a:srgbClr val="0B1F3A"/>
                </a:solidFill>
              </a:rPr>
              <a:t>costruita</a:t>
            </a:r>
            <a:endParaRPr lang="en-US" i="1" dirty="0"/>
          </a:p>
          <a:p>
            <a:endParaRPr lang="en-US" b="1" dirty="0">
              <a:solidFill>
                <a:srgbClr val="0B1F3A"/>
              </a:solidFill>
            </a:endParaRPr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A9573D96-5616-77CF-7513-9283F4A65082}"/>
              </a:ext>
            </a:extLst>
          </p:cNvPr>
          <p:cNvSpPr/>
          <p:nvPr/>
        </p:nvSpPr>
        <p:spPr>
          <a:xfrm>
            <a:off x="6096000" y="2831933"/>
            <a:ext cx="0" cy="343982"/>
          </a:xfrm>
          <a:prstGeom prst="line">
            <a:avLst/>
          </a:prstGeom>
          <a:noFill/>
          <a:ln w="19050">
            <a:solidFill>
              <a:srgbClr val="165B9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8290D57E-79BD-07A1-F803-667CD0221AD1}"/>
              </a:ext>
            </a:extLst>
          </p:cNvPr>
          <p:cNvSpPr/>
          <p:nvPr/>
        </p:nvSpPr>
        <p:spPr>
          <a:xfrm>
            <a:off x="584200" y="887843"/>
            <a:ext cx="51663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 err="1">
                <a:solidFill>
                  <a:srgbClr val="0B1F3A"/>
                </a:solidFill>
              </a:rPr>
              <a:t>Adottare</a:t>
            </a:r>
            <a:r>
              <a:rPr lang="en-US" sz="1950" b="1" dirty="0">
                <a:solidFill>
                  <a:srgbClr val="0B1F3A"/>
                </a:solidFill>
              </a:rPr>
              <a:t> lo standard ISO 23247 per </a:t>
            </a:r>
            <a:r>
              <a:rPr lang="en-US" sz="1950" b="1" dirty="0" err="1">
                <a:solidFill>
                  <a:srgbClr val="0B1F3A"/>
                </a:solidFill>
              </a:rPr>
              <a:t>definire</a:t>
            </a:r>
            <a:r>
              <a:rPr lang="en-US" sz="1950" b="1" dirty="0">
                <a:solidFill>
                  <a:srgbClr val="0B1F3A"/>
                </a:solidFill>
              </a:rPr>
              <a:t> </a:t>
            </a:r>
            <a:r>
              <a:rPr lang="en-US" sz="1950" b="1" dirty="0" err="1">
                <a:solidFill>
                  <a:srgbClr val="0B1F3A"/>
                </a:solidFill>
              </a:rPr>
              <a:t>l’architettura</a:t>
            </a:r>
            <a:r>
              <a:rPr lang="en-US" sz="1950" b="1" dirty="0">
                <a:solidFill>
                  <a:srgbClr val="0B1F3A"/>
                </a:solidFill>
              </a:rPr>
              <a:t> e </a:t>
            </a:r>
            <a:r>
              <a:rPr lang="en-US" sz="1950" b="1" dirty="0" err="1">
                <a:solidFill>
                  <a:srgbClr val="0B1F3A"/>
                </a:solidFill>
              </a:rPr>
              <a:t>i</a:t>
            </a:r>
            <a:r>
              <a:rPr lang="en-US" sz="1950" b="1" dirty="0">
                <a:solidFill>
                  <a:srgbClr val="0B1F3A"/>
                </a:solidFill>
              </a:rPr>
              <a:t> domini di </a:t>
            </a:r>
            <a:r>
              <a:rPr lang="en-US" sz="1950" b="1" dirty="0" err="1">
                <a:solidFill>
                  <a:srgbClr val="0B1F3A"/>
                </a:solidFill>
              </a:rPr>
              <a:t>funzionamento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2828760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D1137-EC0E-C8B2-9818-039704FB4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CBBD02-C1E9-3484-ABA2-021B99C8AEDB}"/>
              </a:ext>
            </a:extLst>
          </p:cNvPr>
          <p:cNvSpPr/>
          <p:nvPr/>
        </p:nvSpPr>
        <p:spPr>
          <a:xfrm>
            <a:off x="584200" y="2231600"/>
            <a:ext cx="2186987" cy="1092139"/>
          </a:xfrm>
          <a:prstGeom prst="roundRect">
            <a:avLst/>
          </a:prstGeom>
          <a:solidFill>
            <a:srgbClr val="FFFFCC"/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Data Collection and Device Control </a:t>
            </a:r>
            <a:r>
              <a:rPr lang="it-IT" b="1" dirty="0" err="1">
                <a:solidFill>
                  <a:schemeClr val="tx1"/>
                </a:solidFill>
              </a:rPr>
              <a:t>Entity</a:t>
            </a:r>
            <a:endParaRPr lang="it-IT" b="1" dirty="0">
              <a:solidFill>
                <a:schemeClr val="tx1"/>
              </a:solidFill>
            </a:endParaRPr>
          </a:p>
          <a:p>
            <a:pPr algn="ctr"/>
            <a:r>
              <a:rPr lang="it-IT" b="1" dirty="0">
                <a:solidFill>
                  <a:schemeClr val="tx1"/>
                </a:solidFill>
              </a:rPr>
              <a:t>(DCDCE)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F1A846-ECE3-C6A4-C425-AC9036DF62AE}"/>
              </a:ext>
            </a:extLst>
          </p:cNvPr>
          <p:cNvSpPr/>
          <p:nvPr/>
        </p:nvSpPr>
        <p:spPr>
          <a:xfrm>
            <a:off x="3524330" y="4057811"/>
            <a:ext cx="2186987" cy="10921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User </a:t>
            </a:r>
            <a:r>
              <a:rPr lang="it-IT" b="1" dirty="0" err="1">
                <a:solidFill>
                  <a:schemeClr val="tx1"/>
                </a:solidFill>
              </a:rPr>
              <a:t>Entity</a:t>
            </a:r>
            <a:endParaRPr lang="it-IT" b="1" dirty="0">
              <a:solidFill>
                <a:schemeClr val="tx1"/>
              </a:solidFill>
            </a:endParaRPr>
          </a:p>
          <a:p>
            <a:pPr algn="ctr"/>
            <a:r>
              <a:rPr lang="it-IT" b="1" dirty="0">
                <a:solidFill>
                  <a:schemeClr val="tx1"/>
                </a:solidFill>
              </a:rPr>
              <a:t>(UE)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60AB4FC-77FC-414E-1D86-4C4B3C0AC4ED}"/>
              </a:ext>
            </a:extLst>
          </p:cNvPr>
          <p:cNvSpPr/>
          <p:nvPr/>
        </p:nvSpPr>
        <p:spPr>
          <a:xfrm>
            <a:off x="3524331" y="2231600"/>
            <a:ext cx="2186987" cy="1092139"/>
          </a:xfrm>
          <a:prstGeom prst="roundRect">
            <a:avLst/>
          </a:prstGeom>
          <a:solidFill>
            <a:srgbClr val="FFCCFF"/>
          </a:solidFill>
          <a:ln w="19050">
            <a:solidFill>
              <a:srgbClr val="FF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Core </a:t>
            </a:r>
            <a:r>
              <a:rPr lang="it-IT" b="1" dirty="0" err="1">
                <a:solidFill>
                  <a:schemeClr val="tx1"/>
                </a:solidFill>
              </a:rPr>
              <a:t>Entity</a:t>
            </a:r>
            <a:endParaRPr lang="it-IT" b="1" dirty="0">
              <a:solidFill>
                <a:schemeClr val="tx1"/>
              </a:solidFill>
            </a:endParaRPr>
          </a:p>
          <a:p>
            <a:pPr algn="ctr"/>
            <a:r>
              <a:rPr lang="it-IT" b="1" dirty="0">
                <a:solidFill>
                  <a:schemeClr val="tx1"/>
                </a:solidFill>
              </a:rPr>
              <a:t>(CE)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9AC45FE-A716-E2BC-707B-3E52D2956DCF}"/>
              </a:ext>
            </a:extLst>
          </p:cNvPr>
          <p:cNvSpPr/>
          <p:nvPr/>
        </p:nvSpPr>
        <p:spPr>
          <a:xfrm>
            <a:off x="584200" y="4053192"/>
            <a:ext cx="2186987" cy="109213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err="1">
                <a:solidFill>
                  <a:schemeClr val="tx1"/>
                </a:solidFill>
              </a:rPr>
              <a:t>Observable</a:t>
            </a:r>
            <a:r>
              <a:rPr lang="it-IT" b="1" dirty="0">
                <a:solidFill>
                  <a:schemeClr val="tx1"/>
                </a:solidFill>
              </a:rPr>
              <a:t> Manufacturing </a:t>
            </a:r>
            <a:r>
              <a:rPr lang="it-IT" b="1" dirty="0" err="1">
                <a:solidFill>
                  <a:schemeClr val="tx1"/>
                </a:solidFill>
              </a:rPr>
              <a:t>Element</a:t>
            </a:r>
            <a:endParaRPr lang="it-IT" b="1" dirty="0">
              <a:solidFill>
                <a:schemeClr val="tx1"/>
              </a:solidFill>
            </a:endParaRPr>
          </a:p>
          <a:p>
            <a:pPr algn="ctr"/>
            <a:r>
              <a:rPr lang="it-IT" b="1" dirty="0">
                <a:solidFill>
                  <a:schemeClr val="tx1"/>
                </a:solidFill>
              </a:rPr>
              <a:t>(OME)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160D54-92EC-6F9C-1CE2-2C721AB4F6F1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 flipH="1">
            <a:off x="4617824" y="3323739"/>
            <a:ext cx="1" cy="73407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BF79E90-0415-8D4B-0CD0-04674AE7B5B6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2771187" y="2777670"/>
            <a:ext cx="753144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8182E49-9A82-1A1D-EE08-400F86AFE141}"/>
              </a:ext>
            </a:extLst>
          </p:cNvPr>
          <p:cNvCxnSpPr>
            <a:stCxn id="13" idx="3"/>
            <a:endCxn id="7" idx="1"/>
          </p:cNvCxnSpPr>
          <p:nvPr/>
        </p:nvCxnSpPr>
        <p:spPr>
          <a:xfrm>
            <a:off x="2771187" y="4599262"/>
            <a:ext cx="753143" cy="4619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975580D-8FB7-191A-7EDC-AB276C12BCF0}"/>
              </a:ext>
            </a:extLst>
          </p:cNvPr>
          <p:cNvCxnSpPr>
            <a:stCxn id="4" idx="2"/>
            <a:endCxn id="13" idx="0"/>
          </p:cNvCxnSpPr>
          <p:nvPr/>
        </p:nvCxnSpPr>
        <p:spPr>
          <a:xfrm>
            <a:off x="1677694" y="3323739"/>
            <a:ext cx="0" cy="729453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1">
            <a:extLst>
              <a:ext uri="{FF2B5EF4-FFF2-40B4-BE49-F238E27FC236}">
                <a16:creationId xmlns:a16="http://schemas.microsoft.com/office/drawing/2014/main" id="{D7CE9DB1-2CE7-EDB0-06BA-379090EA5FFB}"/>
              </a:ext>
            </a:extLst>
          </p:cNvPr>
          <p:cNvSpPr/>
          <p:nvPr/>
        </p:nvSpPr>
        <p:spPr>
          <a:xfrm>
            <a:off x="584200" y="179492"/>
            <a:ext cx="8183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STAR: Standard </a:t>
            </a:r>
            <a:r>
              <a:rPr lang="en-US" sz="2900" b="1" dirty="0" err="1">
                <a:solidFill>
                  <a:srgbClr val="0B1F3A"/>
                </a:solidFill>
              </a:rPr>
              <a:t>documentazione</a:t>
            </a:r>
            <a:r>
              <a:rPr lang="en-US" sz="2900" b="1" dirty="0">
                <a:solidFill>
                  <a:srgbClr val="0B1F3A"/>
                </a:solidFill>
              </a:rPr>
              <a:t> e </a:t>
            </a:r>
            <a:r>
              <a:rPr lang="en-US" sz="2900" b="1" dirty="0" err="1">
                <a:solidFill>
                  <a:srgbClr val="0B1F3A"/>
                </a:solidFill>
              </a:rPr>
              <a:t>architettura</a:t>
            </a:r>
            <a:endParaRPr lang="en-US" sz="2900" dirty="0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D3C43423-4CB9-40C6-B5A5-3C16B30A0A2B}"/>
              </a:ext>
            </a:extLst>
          </p:cNvPr>
          <p:cNvSpPr/>
          <p:nvPr/>
        </p:nvSpPr>
        <p:spPr>
          <a:xfrm>
            <a:off x="313228" y="608273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26B8C7"/>
                </a:solidFill>
              </a:rPr>
              <a:t>Proposta</a:t>
            </a:r>
            <a:r>
              <a:rPr lang="en-US" b="1" dirty="0">
                <a:solidFill>
                  <a:srgbClr val="26B8C7"/>
                </a:solidFill>
              </a:rPr>
              <a:t> </a:t>
            </a:r>
            <a:r>
              <a:rPr lang="en-US" b="1" dirty="0" err="1">
                <a:solidFill>
                  <a:srgbClr val="26B8C7"/>
                </a:solidFill>
              </a:rPr>
              <a:t>architettura</a:t>
            </a:r>
            <a:endParaRPr lang="en-US" dirty="0"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7FA40DDE-1297-098D-41E2-3E9BEAB00D2B}"/>
              </a:ext>
            </a:extLst>
          </p:cNvPr>
          <p:cNvSpPr/>
          <p:nvPr/>
        </p:nvSpPr>
        <p:spPr>
          <a:xfrm>
            <a:off x="632840" y="887843"/>
            <a:ext cx="9989766" cy="6729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B1F3A"/>
                </a:solidFill>
              </a:rPr>
              <a:t>1.Adottare lo standard ISO 23247 per </a:t>
            </a:r>
            <a:r>
              <a:rPr lang="en-US" sz="1950" b="1" dirty="0" err="1">
                <a:solidFill>
                  <a:srgbClr val="0B1F3A"/>
                </a:solidFill>
              </a:rPr>
              <a:t>definire</a:t>
            </a:r>
            <a:r>
              <a:rPr lang="en-US" sz="1950" b="1" dirty="0">
                <a:solidFill>
                  <a:srgbClr val="0B1F3A"/>
                </a:solidFill>
              </a:rPr>
              <a:t> </a:t>
            </a:r>
            <a:r>
              <a:rPr lang="en-US" sz="1950" b="1" dirty="0" err="1">
                <a:solidFill>
                  <a:srgbClr val="0B1F3A"/>
                </a:solidFill>
              </a:rPr>
              <a:t>l’architettura</a:t>
            </a:r>
            <a:r>
              <a:rPr lang="en-US" sz="1950" b="1" dirty="0">
                <a:solidFill>
                  <a:srgbClr val="0B1F3A"/>
                </a:solidFill>
              </a:rPr>
              <a:t> e </a:t>
            </a:r>
            <a:r>
              <a:rPr lang="en-US" sz="1950" b="1" dirty="0" err="1">
                <a:solidFill>
                  <a:srgbClr val="0B1F3A"/>
                </a:solidFill>
              </a:rPr>
              <a:t>i</a:t>
            </a:r>
            <a:r>
              <a:rPr lang="en-US" sz="1950" b="1" dirty="0">
                <a:solidFill>
                  <a:srgbClr val="0B1F3A"/>
                </a:solidFill>
              </a:rPr>
              <a:t> domini di </a:t>
            </a:r>
            <a:r>
              <a:rPr lang="en-US" sz="1950" b="1" dirty="0" err="1">
                <a:solidFill>
                  <a:srgbClr val="0B1F3A"/>
                </a:solidFill>
              </a:rPr>
              <a:t>funzionamento</a:t>
            </a:r>
            <a:endParaRPr lang="en-US" sz="1950" b="1" dirty="0">
              <a:solidFill>
                <a:srgbClr val="0B1F3A"/>
              </a:solidFill>
            </a:endParaRPr>
          </a:p>
          <a:p>
            <a:pPr marL="0" indent="0">
              <a:buNone/>
            </a:pPr>
            <a:r>
              <a:rPr lang="en-US" sz="1950" b="1" dirty="0">
                <a:solidFill>
                  <a:srgbClr val="0B1F3A"/>
                </a:solidFill>
              </a:rPr>
              <a:t>2.Inserire il </a:t>
            </a:r>
            <a:r>
              <a:rPr lang="en-US" sz="1950" b="1" dirty="0" err="1">
                <a:solidFill>
                  <a:srgbClr val="0B1F3A"/>
                </a:solidFill>
              </a:rPr>
              <a:t>concetto</a:t>
            </a:r>
            <a:r>
              <a:rPr lang="en-US" sz="1950" b="1" dirty="0">
                <a:solidFill>
                  <a:srgbClr val="0B1F3A"/>
                </a:solidFill>
              </a:rPr>
              <a:t> di Internet of Digital Twins (</a:t>
            </a:r>
            <a:r>
              <a:rPr lang="en-US" sz="1950" b="1" dirty="0" err="1">
                <a:solidFill>
                  <a:srgbClr val="0B1F3A"/>
                </a:solidFill>
              </a:rPr>
              <a:t>IoDT</a:t>
            </a:r>
            <a:r>
              <a:rPr lang="en-US" sz="1950" b="1" dirty="0">
                <a:solidFill>
                  <a:srgbClr val="0B1F3A"/>
                </a:solidFill>
              </a:rPr>
              <a:t>)</a:t>
            </a:r>
            <a:endParaRPr lang="en-US" sz="1950" dirty="0"/>
          </a:p>
        </p:txBody>
      </p:sp>
      <p:sp>
        <p:nvSpPr>
          <p:cNvPr id="2" name="Text 12">
            <a:extLst>
              <a:ext uri="{FF2B5EF4-FFF2-40B4-BE49-F238E27FC236}">
                <a16:creationId xmlns:a16="http://schemas.microsoft.com/office/drawing/2014/main" id="{AA14505B-9995-A1FD-245C-DD1A928A6DCC}"/>
              </a:ext>
            </a:extLst>
          </p:cNvPr>
          <p:cNvSpPr/>
          <p:nvPr/>
        </p:nvSpPr>
        <p:spPr>
          <a:xfrm>
            <a:off x="502920" y="6547104"/>
            <a:ext cx="9784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68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Garro &amp; Sorrenti (2026), ISO 23247-compliant Hybrid Digital Twin Architecture; ISO 23247 domains OME, DCDCE, CE, UE.</a:t>
            </a:r>
            <a:endParaRPr lang="en-US" sz="62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939A93D9-5EA5-5ECD-6769-9BD9A0FCE1B2}"/>
              </a:ext>
            </a:extLst>
          </p:cNvPr>
          <p:cNvSpPr/>
          <p:nvPr/>
        </p:nvSpPr>
        <p:spPr>
          <a:xfrm>
            <a:off x="7837928" y="2054332"/>
            <a:ext cx="3151762" cy="842110"/>
          </a:xfrm>
          <a:prstGeom prst="roundRect">
            <a:avLst>
              <a:gd name="adj" fmla="val 5926"/>
            </a:avLst>
          </a:prstGeom>
          <a:solidFill>
            <a:srgbClr val="FCE5D6"/>
          </a:solidFill>
          <a:ln w="12700">
            <a:solidFill>
              <a:srgbClr val="F5A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D80A913B-44E7-DBF9-5FDE-773054615636}"/>
              </a:ext>
            </a:extLst>
          </p:cNvPr>
          <p:cNvSpPr/>
          <p:nvPr/>
        </p:nvSpPr>
        <p:spPr>
          <a:xfrm>
            <a:off x="8042209" y="2372675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Twin Space</a:t>
            </a:r>
            <a:endParaRPr lang="en-US" sz="160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0D28BE8A-348A-9D85-BE45-4A401BE27584}"/>
              </a:ext>
            </a:extLst>
          </p:cNvPr>
          <p:cNvSpPr/>
          <p:nvPr/>
        </p:nvSpPr>
        <p:spPr>
          <a:xfrm>
            <a:off x="7837928" y="3386188"/>
            <a:ext cx="3151762" cy="842110"/>
          </a:xfrm>
          <a:prstGeom prst="roundRect">
            <a:avLst>
              <a:gd name="adj" fmla="val 5926"/>
            </a:avLst>
          </a:prstGeom>
          <a:solidFill>
            <a:srgbClr val="DCEBFA"/>
          </a:solidFill>
          <a:ln w="12700">
            <a:solidFill>
              <a:srgbClr val="8FB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1ABF8DE6-2A40-B091-2C8D-F2F0D10A9F8C}"/>
              </a:ext>
            </a:extLst>
          </p:cNvPr>
          <p:cNvSpPr/>
          <p:nvPr/>
        </p:nvSpPr>
        <p:spPr>
          <a:xfrm>
            <a:off x="8042209" y="3681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Intranet of Digital Twins</a:t>
            </a:r>
            <a:endParaRPr lang="en-US" sz="160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DF876D8B-4CBB-C4DB-3981-620B98D15568}"/>
              </a:ext>
            </a:extLst>
          </p:cNvPr>
          <p:cNvSpPr/>
          <p:nvPr/>
        </p:nvSpPr>
        <p:spPr>
          <a:xfrm>
            <a:off x="7837928" y="4715082"/>
            <a:ext cx="3151762" cy="842110"/>
          </a:xfrm>
          <a:prstGeom prst="roundRect">
            <a:avLst>
              <a:gd name="adj" fmla="val 5926"/>
            </a:avLst>
          </a:prstGeom>
          <a:solidFill>
            <a:srgbClr val="F4D6F4"/>
          </a:solidFill>
          <a:ln w="12700">
            <a:solidFill>
              <a:srgbClr val="E85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51E7C728-979E-FDF4-34B1-A343F7B13B33}"/>
              </a:ext>
            </a:extLst>
          </p:cNvPr>
          <p:cNvSpPr/>
          <p:nvPr/>
        </p:nvSpPr>
        <p:spPr>
          <a:xfrm>
            <a:off x="8042209" y="503147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of Digital Twins</a:t>
            </a:r>
            <a:endParaRPr lang="en-US" sz="160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EF37228D-317A-1DE5-ADC9-5DEA5A80A9EC}"/>
              </a:ext>
            </a:extLst>
          </p:cNvPr>
          <p:cNvSpPr/>
          <p:nvPr/>
        </p:nvSpPr>
        <p:spPr>
          <a:xfrm>
            <a:off x="9406805" y="3016037"/>
            <a:ext cx="0" cy="274320"/>
          </a:xfrm>
          <a:prstGeom prst="line">
            <a:avLst/>
          </a:prstGeom>
          <a:noFill/>
          <a:ln w="15875">
            <a:solidFill>
              <a:srgbClr val="60708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39F894AB-AA35-FAFC-E70F-B5A51E285B90}"/>
              </a:ext>
            </a:extLst>
          </p:cNvPr>
          <p:cNvSpPr/>
          <p:nvPr/>
        </p:nvSpPr>
        <p:spPr>
          <a:xfrm>
            <a:off x="9406805" y="4347516"/>
            <a:ext cx="0" cy="274320"/>
          </a:xfrm>
          <a:prstGeom prst="line">
            <a:avLst/>
          </a:prstGeom>
          <a:noFill/>
          <a:ln w="15875">
            <a:solidFill>
              <a:srgbClr val="60708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748A3DEF-35C2-5C7E-B375-182E02534A28}"/>
              </a:ext>
            </a:extLst>
          </p:cNvPr>
          <p:cNvSpPr/>
          <p:nvPr/>
        </p:nvSpPr>
        <p:spPr>
          <a:xfrm>
            <a:off x="7837928" y="6537960"/>
            <a:ext cx="438036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A8797"/>
                </a:solidFill>
              </a:rPr>
              <a:t>Fonte: Lehmann et al., 2023 — Internet of Digital Twins, IDT proxy, marketplace knowledge graph.</a:t>
            </a:r>
            <a:endParaRPr lang="en-US" sz="680" dirty="0"/>
          </a:p>
        </p:txBody>
      </p:sp>
    </p:spTree>
    <p:extLst>
      <p:ext uri="{BB962C8B-B14F-4D97-AF65-F5344CB8AC3E}">
        <p14:creationId xmlns:p14="http://schemas.microsoft.com/office/powerpoint/2010/main" val="2156841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F8685-8774-AADA-F782-BB8523735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8E617B0-9C2F-5C85-78E9-6B971951310F}"/>
              </a:ext>
            </a:extLst>
          </p:cNvPr>
          <p:cNvSpPr/>
          <p:nvPr/>
        </p:nvSpPr>
        <p:spPr>
          <a:xfrm>
            <a:off x="2062375" y="1882548"/>
            <a:ext cx="3280495" cy="1765968"/>
          </a:xfrm>
          <a:prstGeom prst="roundRect">
            <a:avLst/>
          </a:prstGeom>
          <a:solidFill>
            <a:srgbClr val="FFFFCC"/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(DCDCE)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Folder comune, File di input/output, validazione ed esecuzione dei moduli, </a:t>
            </a:r>
            <a:r>
              <a:rPr lang="it-IT" dirty="0" err="1">
                <a:solidFill>
                  <a:schemeClr val="tx1"/>
                </a:solidFill>
              </a:rPr>
              <a:t>pre</a:t>
            </a:r>
            <a:r>
              <a:rPr lang="it-IT" dirty="0">
                <a:solidFill>
                  <a:schemeClr val="tx1"/>
                </a:solidFill>
              </a:rPr>
              <a:t> processing dei dati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3A4C70-345B-EB48-AD10-21CB3B1C71C1}"/>
              </a:ext>
            </a:extLst>
          </p:cNvPr>
          <p:cNvSpPr/>
          <p:nvPr/>
        </p:nvSpPr>
        <p:spPr>
          <a:xfrm>
            <a:off x="6859736" y="4754184"/>
            <a:ext cx="3280495" cy="17659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(UE)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Inserimento parametri, review e approvazione del system </a:t>
            </a:r>
            <a:r>
              <a:rPr lang="it-IT" dirty="0" err="1">
                <a:solidFill>
                  <a:schemeClr val="tx1"/>
                </a:solidFill>
              </a:rPr>
              <a:t>engineer</a:t>
            </a:r>
            <a:r>
              <a:rPr lang="it-IT" dirty="0">
                <a:solidFill>
                  <a:schemeClr val="tx1"/>
                </a:solidFill>
              </a:rPr>
              <a:t>, visualizzazione report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A3A919-0A88-2C5D-11B4-0546CD9589B8}"/>
              </a:ext>
            </a:extLst>
          </p:cNvPr>
          <p:cNvSpPr/>
          <p:nvPr/>
        </p:nvSpPr>
        <p:spPr>
          <a:xfrm>
            <a:off x="6859737" y="1882548"/>
            <a:ext cx="3280495" cy="1765968"/>
          </a:xfrm>
          <a:prstGeom prst="roundRect">
            <a:avLst/>
          </a:prstGeom>
          <a:solidFill>
            <a:srgbClr val="FFCCFF"/>
          </a:solidFill>
          <a:ln w="19050">
            <a:solidFill>
              <a:srgbClr val="FF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(CE)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Moduli, Knowledge </a:t>
            </a:r>
            <a:r>
              <a:rPr lang="it-IT" dirty="0" err="1">
                <a:solidFill>
                  <a:schemeClr val="tx1"/>
                </a:solidFill>
              </a:rPr>
              <a:t>graph</a:t>
            </a:r>
            <a:r>
              <a:rPr lang="it-IT" dirty="0">
                <a:solidFill>
                  <a:schemeClr val="tx1"/>
                </a:solidFill>
              </a:rPr>
              <a:t>, orchestratore LLM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4AB5DB-97A0-01A0-7DA7-6BF0FBAEF675}"/>
              </a:ext>
            </a:extLst>
          </p:cNvPr>
          <p:cNvSpPr/>
          <p:nvPr/>
        </p:nvSpPr>
        <p:spPr>
          <a:xfrm>
            <a:off x="2062375" y="4749565"/>
            <a:ext cx="3280495" cy="176596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(OME)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Missione, satellite, sottosistemi, aspetti di missione rappresentati dai moduli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8668BFE-4FD2-DE58-22F5-A09B3539F2E5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 flipH="1">
            <a:off x="8499984" y="3648516"/>
            <a:ext cx="1" cy="1105668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DE51456-A793-ECEC-1AFD-B14049F6CEE3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5342870" y="2765532"/>
            <a:ext cx="1516867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DC22428-751D-5A55-ECB9-461ADBB27011}"/>
              </a:ext>
            </a:extLst>
          </p:cNvPr>
          <p:cNvCxnSpPr>
            <a:stCxn id="13" idx="3"/>
            <a:endCxn id="7" idx="1"/>
          </p:cNvCxnSpPr>
          <p:nvPr/>
        </p:nvCxnSpPr>
        <p:spPr>
          <a:xfrm>
            <a:off x="5342870" y="5632549"/>
            <a:ext cx="1516866" cy="4619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B8E2D6-5DE1-29FB-1C38-C11D0A9973FF}"/>
              </a:ext>
            </a:extLst>
          </p:cNvPr>
          <p:cNvCxnSpPr>
            <a:stCxn id="4" idx="2"/>
            <a:endCxn id="13" idx="0"/>
          </p:cNvCxnSpPr>
          <p:nvPr/>
        </p:nvCxnSpPr>
        <p:spPr>
          <a:xfrm>
            <a:off x="3702623" y="3648516"/>
            <a:ext cx="0" cy="1101049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1">
            <a:extLst>
              <a:ext uri="{FF2B5EF4-FFF2-40B4-BE49-F238E27FC236}">
                <a16:creationId xmlns:a16="http://schemas.microsoft.com/office/drawing/2014/main" id="{E496BCD9-20DE-D172-4767-45E02522AAAC}"/>
              </a:ext>
            </a:extLst>
          </p:cNvPr>
          <p:cNvSpPr/>
          <p:nvPr/>
        </p:nvSpPr>
        <p:spPr>
          <a:xfrm>
            <a:off x="584200" y="179492"/>
            <a:ext cx="8183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</a:rPr>
              <a:t>STAR: Standard </a:t>
            </a:r>
            <a:r>
              <a:rPr lang="en-US" sz="2900" b="1" dirty="0" err="1">
                <a:solidFill>
                  <a:srgbClr val="0B1F3A"/>
                </a:solidFill>
              </a:rPr>
              <a:t>documentazione</a:t>
            </a:r>
            <a:r>
              <a:rPr lang="en-US" sz="2900" b="1" dirty="0">
                <a:solidFill>
                  <a:srgbClr val="0B1F3A"/>
                </a:solidFill>
              </a:rPr>
              <a:t> e </a:t>
            </a:r>
            <a:r>
              <a:rPr lang="en-US" sz="2900" b="1" dirty="0" err="1">
                <a:solidFill>
                  <a:srgbClr val="0B1F3A"/>
                </a:solidFill>
              </a:rPr>
              <a:t>architettura</a:t>
            </a:r>
            <a:endParaRPr lang="en-US" sz="2900" dirty="0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88320412-4A04-FFEC-F90A-815045DEEF87}"/>
              </a:ext>
            </a:extLst>
          </p:cNvPr>
          <p:cNvSpPr/>
          <p:nvPr/>
        </p:nvSpPr>
        <p:spPr>
          <a:xfrm>
            <a:off x="313228" y="608273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26B8C7"/>
                </a:solidFill>
              </a:rPr>
              <a:t>Proposta</a:t>
            </a:r>
            <a:r>
              <a:rPr lang="en-US" b="1" dirty="0">
                <a:solidFill>
                  <a:srgbClr val="26B8C7"/>
                </a:solidFill>
              </a:rPr>
              <a:t> </a:t>
            </a:r>
            <a:r>
              <a:rPr lang="en-US" b="1" dirty="0" err="1">
                <a:solidFill>
                  <a:srgbClr val="26B8C7"/>
                </a:solidFill>
              </a:rPr>
              <a:t>architettura</a:t>
            </a: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267D7041-30BF-91A7-9255-5C7B08A9A808}"/>
              </a:ext>
            </a:extLst>
          </p:cNvPr>
          <p:cNvSpPr/>
          <p:nvPr/>
        </p:nvSpPr>
        <p:spPr>
          <a:xfrm>
            <a:off x="632840" y="887843"/>
            <a:ext cx="9989766" cy="6729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B1F3A"/>
                </a:solidFill>
              </a:rPr>
              <a:t>1.Adottare lo standard ISO 23247 per </a:t>
            </a:r>
            <a:r>
              <a:rPr lang="en-US" sz="1950" b="1" dirty="0" err="1">
                <a:solidFill>
                  <a:srgbClr val="0B1F3A"/>
                </a:solidFill>
              </a:rPr>
              <a:t>definire</a:t>
            </a:r>
            <a:r>
              <a:rPr lang="en-US" sz="1950" b="1" dirty="0">
                <a:solidFill>
                  <a:srgbClr val="0B1F3A"/>
                </a:solidFill>
              </a:rPr>
              <a:t> </a:t>
            </a:r>
            <a:r>
              <a:rPr lang="en-US" sz="1950" b="1" dirty="0" err="1">
                <a:solidFill>
                  <a:srgbClr val="0B1F3A"/>
                </a:solidFill>
              </a:rPr>
              <a:t>l’architettura</a:t>
            </a:r>
            <a:r>
              <a:rPr lang="en-US" sz="1950" b="1" dirty="0">
                <a:solidFill>
                  <a:srgbClr val="0B1F3A"/>
                </a:solidFill>
              </a:rPr>
              <a:t> e </a:t>
            </a:r>
            <a:r>
              <a:rPr lang="en-US" sz="1950" b="1" dirty="0" err="1">
                <a:solidFill>
                  <a:srgbClr val="0B1F3A"/>
                </a:solidFill>
              </a:rPr>
              <a:t>i</a:t>
            </a:r>
            <a:r>
              <a:rPr lang="en-US" sz="1950" b="1" dirty="0">
                <a:solidFill>
                  <a:srgbClr val="0B1F3A"/>
                </a:solidFill>
              </a:rPr>
              <a:t> domini di </a:t>
            </a:r>
            <a:r>
              <a:rPr lang="en-US" sz="1950" b="1" dirty="0" err="1">
                <a:solidFill>
                  <a:srgbClr val="0B1F3A"/>
                </a:solidFill>
              </a:rPr>
              <a:t>funzionamento</a:t>
            </a:r>
            <a:endParaRPr lang="en-US" sz="1950" b="1" dirty="0">
              <a:solidFill>
                <a:srgbClr val="0B1F3A"/>
              </a:solidFill>
            </a:endParaRPr>
          </a:p>
          <a:p>
            <a:pPr marL="0" indent="0">
              <a:buNone/>
            </a:pPr>
            <a:r>
              <a:rPr lang="en-US" sz="1950" b="1" dirty="0">
                <a:solidFill>
                  <a:schemeClr val="bg2">
                    <a:lumMod val="90000"/>
                  </a:schemeClr>
                </a:solidFill>
              </a:rPr>
              <a:t>2.Inserire il </a:t>
            </a:r>
            <a:r>
              <a:rPr lang="en-US" sz="1950" b="1" dirty="0" err="1">
                <a:solidFill>
                  <a:schemeClr val="bg2">
                    <a:lumMod val="90000"/>
                  </a:schemeClr>
                </a:solidFill>
              </a:rPr>
              <a:t>concetto</a:t>
            </a:r>
            <a:r>
              <a:rPr lang="en-US" sz="1950" b="1" dirty="0">
                <a:solidFill>
                  <a:schemeClr val="bg2">
                    <a:lumMod val="90000"/>
                  </a:schemeClr>
                </a:solidFill>
              </a:rPr>
              <a:t> di Internet of Digital Twins (</a:t>
            </a:r>
            <a:r>
              <a:rPr lang="en-US" sz="1950" b="1" dirty="0" err="1">
                <a:solidFill>
                  <a:schemeClr val="bg2">
                    <a:lumMod val="90000"/>
                  </a:schemeClr>
                </a:solidFill>
              </a:rPr>
              <a:t>IoDT</a:t>
            </a:r>
            <a:r>
              <a:rPr lang="en-US" sz="1950" b="1" dirty="0">
                <a:solidFill>
                  <a:schemeClr val="bg2">
                    <a:lumMod val="90000"/>
                  </a:schemeClr>
                </a:solidFill>
              </a:rPr>
              <a:t>)</a:t>
            </a:r>
            <a:endParaRPr lang="en-US" sz="195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866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8B03E6-CDA1-D704-134B-B0A73A7B4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6" y="194351"/>
            <a:ext cx="10843166" cy="659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43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B26A7BC-FFD6-1732-8AF0-135DDFD1385C}"/>
              </a:ext>
            </a:extLst>
          </p:cNvPr>
          <p:cNvGrpSpPr/>
          <p:nvPr/>
        </p:nvGrpSpPr>
        <p:grpSpPr>
          <a:xfrm>
            <a:off x="6258716" y="516928"/>
            <a:ext cx="3985161" cy="6172524"/>
            <a:chOff x="1673157" y="642026"/>
            <a:chExt cx="1556426" cy="5398851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297E297F-F5AB-6D41-1BC2-29511D44A717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CBC06E4-BBD6-21E9-2CA1-B61685AB694C}"/>
                </a:ext>
              </a:extLst>
            </p:cNvPr>
            <p:cNvSpPr txBox="1"/>
            <p:nvPr/>
          </p:nvSpPr>
          <p:spPr>
            <a:xfrm>
              <a:off x="1673157" y="642026"/>
              <a:ext cx="1556426" cy="2422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200" b="1" dirty="0"/>
                <a:t>APPLICATION &amp; SERVICE SUB ENTITY</a:t>
              </a:r>
              <a:endParaRPr lang="en-US" sz="1200" b="1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C46E51F-6A2B-5421-580F-85A53D153615}"/>
              </a:ext>
            </a:extLst>
          </p:cNvPr>
          <p:cNvGrpSpPr/>
          <p:nvPr/>
        </p:nvGrpSpPr>
        <p:grpSpPr>
          <a:xfrm>
            <a:off x="6343974" y="2166045"/>
            <a:ext cx="1699725" cy="1251624"/>
            <a:chOff x="1673157" y="642026"/>
            <a:chExt cx="1556427" cy="5398851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E4521141-0297-5576-18A0-29281B9430E0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A37A90F-A05D-8A35-E35F-7BF9F38BE73B}"/>
                </a:ext>
              </a:extLst>
            </p:cNvPr>
            <p:cNvSpPr txBox="1"/>
            <p:nvPr/>
          </p:nvSpPr>
          <p:spPr>
            <a:xfrm>
              <a:off x="1673158" y="642026"/>
              <a:ext cx="1556426" cy="41155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/>
                <a:t>APPLICATION SUPPORT FE</a:t>
              </a:r>
            </a:p>
            <a:p>
              <a:pPr algn="ctr"/>
              <a:endParaRPr lang="it-IT" sz="1000" b="1" dirty="0"/>
            </a:p>
            <a:p>
              <a:pPr algn="ctr"/>
              <a:r>
                <a:rPr lang="it-IT" sz="1200" dirty="0"/>
                <a:t>Propone workflow e supporta scenari </a:t>
              </a:r>
              <a:r>
                <a:rPr lang="it-IT" sz="1200" dirty="0" err="1"/>
                <a:t>What</a:t>
              </a:r>
              <a:r>
                <a:rPr lang="it-IT" sz="1200" dirty="0"/>
                <a:t> </a:t>
              </a:r>
              <a:r>
                <a:rPr lang="it-IT" sz="1200" dirty="0" err="1"/>
                <a:t>if</a:t>
              </a:r>
              <a:r>
                <a:rPr lang="it-IT" sz="1200" dirty="0"/>
                <a:t>? (orchestratore)</a:t>
              </a:r>
              <a:endParaRPr lang="en-US" sz="1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555ADC6-DF61-65F6-3F47-150DEF27607F}"/>
              </a:ext>
            </a:extLst>
          </p:cNvPr>
          <p:cNvGrpSpPr/>
          <p:nvPr/>
        </p:nvGrpSpPr>
        <p:grpSpPr>
          <a:xfrm>
            <a:off x="8398181" y="2146588"/>
            <a:ext cx="1699725" cy="1251624"/>
            <a:chOff x="1673157" y="642026"/>
            <a:chExt cx="1556427" cy="5398851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DB5E804D-75DC-6447-D1EB-B18E89624E88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07E92A-74D9-B520-7099-FB7513994C13}"/>
                </a:ext>
              </a:extLst>
            </p:cNvPr>
            <p:cNvSpPr txBox="1"/>
            <p:nvPr/>
          </p:nvSpPr>
          <p:spPr>
            <a:xfrm>
              <a:off x="1673158" y="642026"/>
              <a:ext cx="1556426" cy="42482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/>
                <a:t>ANALYTICAL SERVICE FE</a:t>
              </a:r>
            </a:p>
            <a:p>
              <a:pPr algn="ctr"/>
              <a:endParaRPr lang="it-IT" sz="1200" dirty="0"/>
            </a:p>
            <a:p>
              <a:pPr algn="ctr"/>
              <a:r>
                <a:rPr lang="it-IT" sz="1200" dirty="0"/>
                <a:t>Estrae requisiti e propone assunzioni (orchestratore)</a:t>
              </a:r>
              <a:endParaRPr lang="en-US" sz="12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5CC9E4F-F881-52D0-2146-B994C20BC6F4}"/>
              </a:ext>
            </a:extLst>
          </p:cNvPr>
          <p:cNvGrpSpPr/>
          <p:nvPr/>
        </p:nvGrpSpPr>
        <p:grpSpPr>
          <a:xfrm>
            <a:off x="8414708" y="3796607"/>
            <a:ext cx="1699725" cy="1251624"/>
            <a:chOff x="1673157" y="642026"/>
            <a:chExt cx="1556427" cy="5398851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73C0FEB1-6C6F-C246-6D5E-F411E7CC63DC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AC3172F-B531-6A78-CCBF-7A8BA3A1A147}"/>
                </a:ext>
              </a:extLst>
            </p:cNvPr>
            <p:cNvSpPr txBox="1"/>
            <p:nvPr/>
          </p:nvSpPr>
          <p:spPr>
            <a:xfrm>
              <a:off x="1673158" y="642026"/>
              <a:ext cx="1556426" cy="41155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/>
                <a:t>REPORTING FE</a:t>
              </a:r>
            </a:p>
            <a:p>
              <a:pPr algn="ctr"/>
              <a:endParaRPr lang="it-IT" sz="1000" b="1" dirty="0"/>
            </a:p>
            <a:p>
              <a:pPr algn="ctr"/>
              <a:r>
                <a:rPr lang="it-IT" sz="1200" dirty="0"/>
                <a:t>Comunica gli output allo UE, generando report</a:t>
              </a:r>
            </a:p>
            <a:p>
              <a:pPr algn="ctr"/>
              <a:r>
                <a:rPr lang="it-IT" sz="1200" dirty="0"/>
                <a:t>(orchestratore)</a:t>
              </a:r>
              <a:endParaRPr lang="en-US" sz="12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B4F8E2D-BCBD-5C70-BE62-EE49125F2AF3}"/>
              </a:ext>
            </a:extLst>
          </p:cNvPr>
          <p:cNvGrpSpPr/>
          <p:nvPr/>
        </p:nvGrpSpPr>
        <p:grpSpPr>
          <a:xfrm>
            <a:off x="1878087" y="488150"/>
            <a:ext cx="4104962" cy="3092988"/>
            <a:chOff x="1673157" y="614250"/>
            <a:chExt cx="1568407" cy="298540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9956934-7BF3-42BF-A83E-046D3311F7C8}"/>
                </a:ext>
              </a:extLst>
            </p:cNvPr>
            <p:cNvSpPr/>
            <p:nvPr/>
          </p:nvSpPr>
          <p:spPr>
            <a:xfrm>
              <a:off x="1673157" y="642027"/>
              <a:ext cx="1556426" cy="2957630"/>
            </a:xfrm>
            <a:prstGeom prst="roundRect">
              <a:avLst>
                <a:gd name="adj" fmla="val 9856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E71C93-1180-177A-55DE-444786DA3663}"/>
                </a:ext>
              </a:extLst>
            </p:cNvPr>
            <p:cNvSpPr txBox="1"/>
            <p:nvPr/>
          </p:nvSpPr>
          <p:spPr>
            <a:xfrm>
              <a:off x="1685138" y="614250"/>
              <a:ext cx="1556426" cy="267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200" b="1" dirty="0"/>
                <a:t>OPERATION &amp; MANAGEMENT SUB ENTITY</a:t>
              </a:r>
              <a:endParaRPr lang="en-US" sz="1200" b="1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9A44E59-C2FB-018D-1767-B859AACF0136}"/>
              </a:ext>
            </a:extLst>
          </p:cNvPr>
          <p:cNvGrpSpPr/>
          <p:nvPr/>
        </p:nvGrpSpPr>
        <p:grpSpPr>
          <a:xfrm>
            <a:off x="2094183" y="873117"/>
            <a:ext cx="1710570" cy="1251624"/>
            <a:chOff x="1673157" y="642026"/>
            <a:chExt cx="1556427" cy="5398851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FD85EE7-AAB8-8A10-E560-043322875CAB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2A86258-5639-C596-2069-5DD6ECE7905F}"/>
                </a:ext>
              </a:extLst>
            </p:cNvPr>
            <p:cNvSpPr txBox="1"/>
            <p:nvPr/>
          </p:nvSpPr>
          <p:spPr>
            <a:xfrm>
              <a:off x="1673158" y="642026"/>
              <a:ext cx="1556426" cy="42482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/>
                <a:t>DIGITAL MODELING FE</a:t>
              </a:r>
            </a:p>
            <a:p>
              <a:pPr algn="ctr"/>
              <a:endParaRPr lang="it-IT" sz="1200" dirty="0"/>
            </a:p>
            <a:p>
              <a:pPr algn="ctr"/>
              <a:r>
                <a:rPr lang="it-IT" sz="1200" dirty="0"/>
                <a:t>Applica i modelli dei sottosistemi (moduli/ENDS)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EB3BFF9-E99C-03C5-4ED2-C4641B2DFD4D}"/>
              </a:ext>
            </a:extLst>
          </p:cNvPr>
          <p:cNvGrpSpPr/>
          <p:nvPr/>
        </p:nvGrpSpPr>
        <p:grpSpPr>
          <a:xfrm>
            <a:off x="4110785" y="887013"/>
            <a:ext cx="1710570" cy="1251624"/>
            <a:chOff x="1673157" y="642026"/>
            <a:chExt cx="1556427" cy="5398851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653E2AE-BE68-D619-6252-6EEE91EA4948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3979935-D01B-0EEB-2EB9-CC3BE7AB42F9}"/>
                </a:ext>
              </a:extLst>
            </p:cNvPr>
            <p:cNvSpPr txBox="1"/>
            <p:nvPr/>
          </p:nvSpPr>
          <p:spPr>
            <a:xfrm>
              <a:off x="1673158" y="642026"/>
              <a:ext cx="1556426" cy="49120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/>
                <a:t>SYNCHRONIZATION FE</a:t>
              </a:r>
            </a:p>
            <a:p>
              <a:pPr algn="ctr"/>
              <a:endParaRPr lang="it-IT" sz="1000" b="1" dirty="0"/>
            </a:p>
            <a:p>
              <a:pPr algn="ctr"/>
              <a:r>
                <a:rPr lang="it-IT" sz="1200" dirty="0"/>
                <a:t>Allinea requisiti, assunzioni e workflow (orchestratore)</a:t>
              </a:r>
              <a:endParaRPr lang="en-US" sz="120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EC6C537-6EDE-D82E-1469-E2EE212D7C0B}"/>
              </a:ext>
            </a:extLst>
          </p:cNvPr>
          <p:cNvGrpSpPr/>
          <p:nvPr/>
        </p:nvGrpSpPr>
        <p:grpSpPr>
          <a:xfrm>
            <a:off x="2088979" y="2226666"/>
            <a:ext cx="1710570" cy="1251624"/>
            <a:chOff x="1673157" y="642026"/>
            <a:chExt cx="1556427" cy="5398851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8390141B-0EFF-301C-EA54-3B48007E0B32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1C60086-191B-5386-37D1-12CDBD1D20F5}"/>
                </a:ext>
              </a:extLst>
            </p:cNvPr>
            <p:cNvSpPr txBox="1"/>
            <p:nvPr/>
          </p:nvSpPr>
          <p:spPr>
            <a:xfrm>
              <a:off x="1673158" y="642026"/>
              <a:ext cx="1556426" cy="41155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/>
                <a:t>MAINTENANCE FE</a:t>
              </a:r>
            </a:p>
            <a:p>
              <a:pPr algn="ctr"/>
              <a:endParaRPr lang="it-IT" sz="1000" b="1" dirty="0"/>
            </a:p>
            <a:p>
              <a:pPr algn="ctr"/>
              <a:r>
                <a:rPr lang="it-IT" sz="1200" dirty="0"/>
                <a:t>Diagnostica e gestione degli errori</a:t>
              </a:r>
            </a:p>
            <a:p>
              <a:pPr algn="ctr"/>
              <a:r>
                <a:rPr lang="it-IT" sz="1200" dirty="0"/>
                <a:t>(orchestratore)</a:t>
              </a:r>
              <a:endParaRPr lang="en-US" sz="1200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8E3F288-DDE7-AAD1-6536-D869046AA008}"/>
              </a:ext>
            </a:extLst>
          </p:cNvPr>
          <p:cNvGrpSpPr/>
          <p:nvPr/>
        </p:nvGrpSpPr>
        <p:grpSpPr>
          <a:xfrm>
            <a:off x="4110783" y="2226666"/>
            <a:ext cx="1710570" cy="1251624"/>
            <a:chOff x="1673157" y="642026"/>
            <a:chExt cx="1556427" cy="5398851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83DDE051-10A8-64D7-4F2A-264B5620A2AC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  <a:ln>
              <a:solidFill>
                <a:srgbClr val="A6A6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E1B7F32-453A-C969-F77A-8A214CDD5F8A}"/>
                </a:ext>
              </a:extLst>
            </p:cNvPr>
            <p:cNvSpPr txBox="1"/>
            <p:nvPr/>
          </p:nvSpPr>
          <p:spPr>
            <a:xfrm>
              <a:off x="1673158" y="642026"/>
              <a:ext cx="1556426" cy="47793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>
                  <a:solidFill>
                    <a:schemeClr val="bg1">
                      <a:lumMod val="65000"/>
                    </a:schemeClr>
                  </a:solidFill>
                </a:rPr>
                <a:t>PRESENTATION AND REPRESENTATION FE</a:t>
              </a:r>
            </a:p>
            <a:p>
              <a:pPr algn="ctr"/>
              <a:endParaRPr lang="it-IT" sz="1000" b="1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algn="ctr"/>
              <a:r>
                <a:rPr lang="it-IT" sz="1200" dirty="0">
                  <a:solidFill>
                    <a:schemeClr val="bg1">
                      <a:lumMod val="65000"/>
                    </a:schemeClr>
                  </a:solidFill>
                </a:rPr>
                <a:t>Vista architettura missione, workflow e stato dei moduli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FA84F58-D69B-1B0E-D4B2-4A67F2E2A5E2}"/>
              </a:ext>
            </a:extLst>
          </p:cNvPr>
          <p:cNvSpPr/>
          <p:nvPr/>
        </p:nvSpPr>
        <p:spPr>
          <a:xfrm>
            <a:off x="1712717" y="79647"/>
            <a:ext cx="8845685" cy="6671351"/>
          </a:xfrm>
          <a:prstGeom prst="roundRect">
            <a:avLst>
              <a:gd name="adj" fmla="val 5576"/>
            </a:avLst>
          </a:prstGeom>
          <a:noFill/>
          <a:ln w="19050">
            <a:solidFill>
              <a:srgbClr val="FF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B53D15B-C1AE-7134-40D1-42C828708248}"/>
              </a:ext>
            </a:extLst>
          </p:cNvPr>
          <p:cNvSpPr txBox="1"/>
          <p:nvPr/>
        </p:nvSpPr>
        <p:spPr>
          <a:xfrm>
            <a:off x="5078487" y="79647"/>
            <a:ext cx="2231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CORE ENTITY (CE)</a:t>
            </a:r>
            <a:endParaRPr lang="en-US" b="1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85221B0-ECCB-F600-2AD6-1DFC6A9011DC}"/>
              </a:ext>
            </a:extLst>
          </p:cNvPr>
          <p:cNvGrpSpPr/>
          <p:nvPr/>
        </p:nvGrpSpPr>
        <p:grpSpPr>
          <a:xfrm>
            <a:off x="7454362" y="5239070"/>
            <a:ext cx="1510160" cy="1191642"/>
            <a:chOff x="4257108" y="5143615"/>
            <a:chExt cx="1510160" cy="1191642"/>
          </a:xfrm>
          <a:solidFill>
            <a:srgbClr val="FFCCFF"/>
          </a:solidFill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DE930F5-DD76-0EAB-14A9-F4DA631782F5}"/>
                </a:ext>
              </a:extLst>
            </p:cNvPr>
            <p:cNvGrpSpPr/>
            <p:nvPr/>
          </p:nvGrpSpPr>
          <p:grpSpPr>
            <a:xfrm>
              <a:off x="4272377" y="5143615"/>
              <a:ext cx="1494890" cy="1186214"/>
              <a:chOff x="6785043" y="1455321"/>
              <a:chExt cx="1162455" cy="700247"/>
            </a:xfrm>
            <a:grpFill/>
          </p:grpSpPr>
          <p:sp>
            <p:nvSpPr>
              <p:cNvPr id="18" name="Cylinder 17">
                <a:extLst>
                  <a:ext uri="{FF2B5EF4-FFF2-40B4-BE49-F238E27FC236}">
                    <a16:creationId xmlns:a16="http://schemas.microsoft.com/office/drawing/2014/main" id="{96694327-918D-2D06-F40F-B1E45CADFC11}"/>
                  </a:ext>
                </a:extLst>
              </p:cNvPr>
              <p:cNvSpPr/>
              <p:nvPr/>
            </p:nvSpPr>
            <p:spPr>
              <a:xfrm>
                <a:off x="6785043" y="1457143"/>
                <a:ext cx="1162455" cy="698425"/>
              </a:xfrm>
              <a:prstGeom prst="can">
                <a:avLst>
                  <a:gd name="adj" fmla="val 32039"/>
                </a:avLst>
              </a:prstGeom>
              <a:solidFill>
                <a:srgbClr val="FFCCC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74AE211-EAF0-F457-2736-C291862DF801}"/>
                  </a:ext>
                </a:extLst>
              </p:cNvPr>
              <p:cNvSpPr txBox="1"/>
              <p:nvPr/>
            </p:nvSpPr>
            <p:spPr>
              <a:xfrm>
                <a:off x="6879887" y="1455321"/>
                <a:ext cx="972766" cy="3121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000" b="1" dirty="0"/>
                  <a:t>MODEL REPOSITORY</a:t>
                </a:r>
                <a:endParaRPr lang="en-US" sz="1000" b="1" dirty="0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0DBFB40-4D6C-F69B-A54A-2614C598358F}"/>
                </a:ext>
              </a:extLst>
            </p:cNvPr>
            <p:cNvSpPr txBox="1"/>
            <p:nvPr/>
          </p:nvSpPr>
          <p:spPr>
            <a:xfrm>
              <a:off x="4257108" y="5504260"/>
              <a:ext cx="151016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200" dirty="0"/>
                <a:t>Knowledge </a:t>
              </a:r>
              <a:r>
                <a:rPr lang="it-IT" sz="1200" dirty="0" err="1"/>
                <a:t>graph</a:t>
              </a:r>
              <a:endParaRPr lang="it-IT" sz="1200" dirty="0"/>
            </a:p>
            <a:p>
              <a:pPr algn="ctr"/>
              <a:r>
                <a:rPr lang="it-IT" sz="1200" dirty="0"/>
                <a:t>e modelli dei sottosistemi (moduli/ENDS)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70652CD-146B-8CA1-A467-69E9EA84572E}"/>
              </a:ext>
            </a:extLst>
          </p:cNvPr>
          <p:cNvGrpSpPr/>
          <p:nvPr/>
        </p:nvGrpSpPr>
        <p:grpSpPr>
          <a:xfrm>
            <a:off x="8469783" y="860876"/>
            <a:ext cx="1511444" cy="1174635"/>
            <a:chOff x="6173404" y="1259673"/>
            <a:chExt cx="1511444" cy="1174635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F51E08DC-5E2D-AD36-EAEC-34F45CAE736E}"/>
                </a:ext>
              </a:extLst>
            </p:cNvPr>
            <p:cNvGrpSpPr/>
            <p:nvPr/>
          </p:nvGrpSpPr>
          <p:grpSpPr>
            <a:xfrm>
              <a:off x="6173404" y="1259673"/>
              <a:ext cx="1511444" cy="1174635"/>
              <a:chOff x="6785043" y="1439694"/>
              <a:chExt cx="1162455" cy="698425"/>
            </a:xfrm>
          </p:grpSpPr>
          <p:sp>
            <p:nvSpPr>
              <p:cNvPr id="57" name="Cylinder 56">
                <a:extLst>
                  <a:ext uri="{FF2B5EF4-FFF2-40B4-BE49-F238E27FC236}">
                    <a16:creationId xmlns:a16="http://schemas.microsoft.com/office/drawing/2014/main" id="{1FBADB5C-BBF2-A535-3031-DFBE1146714C}"/>
                  </a:ext>
                </a:extLst>
              </p:cNvPr>
              <p:cNvSpPr/>
              <p:nvPr/>
            </p:nvSpPr>
            <p:spPr>
              <a:xfrm>
                <a:off x="6785043" y="1439694"/>
                <a:ext cx="1162455" cy="698425"/>
              </a:xfrm>
              <a:prstGeom prst="can">
                <a:avLst>
                  <a:gd name="adj" fmla="val 41111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200E08E-9725-1966-EC33-889553D2D496}"/>
                  </a:ext>
                </a:extLst>
              </p:cNvPr>
              <p:cNvSpPr txBox="1"/>
              <p:nvPr/>
            </p:nvSpPr>
            <p:spPr>
              <a:xfrm>
                <a:off x="6879887" y="1444681"/>
                <a:ext cx="97276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000" b="1" dirty="0"/>
                  <a:t>KNOWLEDGE REPOSITORY</a:t>
                </a:r>
                <a:endParaRPr lang="en-US" sz="1000" b="1" dirty="0"/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2341EC5-2CA1-9202-1810-954D1D391381}"/>
                </a:ext>
              </a:extLst>
            </p:cNvPr>
            <p:cNvSpPr txBox="1"/>
            <p:nvPr/>
          </p:nvSpPr>
          <p:spPr>
            <a:xfrm>
              <a:off x="6251228" y="1708464"/>
              <a:ext cx="13615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200" dirty="0"/>
                <a:t>Registri con report intermedi</a:t>
              </a:r>
            </a:p>
            <a:p>
              <a:pPr algn="ctr"/>
              <a:r>
                <a:rPr lang="it-IT" sz="1200" dirty="0"/>
                <a:t>(orchestratore)</a:t>
              </a:r>
              <a:endParaRPr lang="en-US" sz="12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5FF7DB5-0A56-7B74-498A-525347E784D1}"/>
              </a:ext>
            </a:extLst>
          </p:cNvPr>
          <p:cNvSpPr txBox="1"/>
          <p:nvPr/>
        </p:nvSpPr>
        <p:spPr>
          <a:xfrm>
            <a:off x="1864115" y="3674123"/>
            <a:ext cx="4087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/>
              <a:t>RESOURCE ACCESS &amp; INTERCHANGE SUB ENTITY</a:t>
            </a:r>
            <a:endParaRPr lang="en-US" sz="1200" b="1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116B9E3-F25E-A22D-282C-B6BA714C196B}"/>
              </a:ext>
            </a:extLst>
          </p:cNvPr>
          <p:cNvGrpSpPr/>
          <p:nvPr/>
        </p:nvGrpSpPr>
        <p:grpSpPr>
          <a:xfrm>
            <a:off x="2057610" y="3945321"/>
            <a:ext cx="1817734" cy="1251624"/>
            <a:chOff x="1801333" y="642026"/>
            <a:chExt cx="1428250" cy="5398851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BC7133E-1131-8C9C-B220-51F2ACC2E594}"/>
                </a:ext>
              </a:extLst>
            </p:cNvPr>
            <p:cNvSpPr/>
            <p:nvPr/>
          </p:nvSpPr>
          <p:spPr>
            <a:xfrm>
              <a:off x="1830069" y="642026"/>
              <a:ext cx="1399514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2C06EB7-879B-EF8B-AC57-CA12C9C34A55}"/>
                </a:ext>
              </a:extLst>
            </p:cNvPr>
            <p:cNvSpPr txBox="1"/>
            <p:nvPr/>
          </p:nvSpPr>
          <p:spPr>
            <a:xfrm>
              <a:off x="1801333" y="721398"/>
              <a:ext cx="1428250" cy="5044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/>
                <a:t>PLUG &amp; PLAY SUPPORT FE</a:t>
              </a:r>
            </a:p>
            <a:p>
              <a:pPr algn="ctr"/>
              <a:r>
                <a:rPr lang="it-IT" sz="1200" dirty="0"/>
                <a:t>Supporta la scalabilità (aggiungere e rimuovere nuovi componenti senza riprogettare l’architettura)</a:t>
              </a:r>
              <a:endParaRPr lang="en-US" sz="12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C0CFB7B-2B67-2309-ED28-AE4BE32A53CE}"/>
              </a:ext>
            </a:extLst>
          </p:cNvPr>
          <p:cNvGrpSpPr/>
          <p:nvPr/>
        </p:nvGrpSpPr>
        <p:grpSpPr>
          <a:xfrm>
            <a:off x="2045976" y="5324876"/>
            <a:ext cx="1877573" cy="1251624"/>
            <a:chOff x="1714386" y="642026"/>
            <a:chExt cx="1555121" cy="5398851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7B392D6C-1878-1DBC-2089-A3D507C71B81}"/>
                </a:ext>
              </a:extLst>
            </p:cNvPr>
            <p:cNvSpPr/>
            <p:nvPr/>
          </p:nvSpPr>
          <p:spPr>
            <a:xfrm>
              <a:off x="1754315" y="642026"/>
              <a:ext cx="1475268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2D64ECE-51E5-97AE-BFC8-7F1B4574B5D1}"/>
                </a:ext>
              </a:extLst>
            </p:cNvPr>
            <p:cNvSpPr txBox="1"/>
            <p:nvPr/>
          </p:nvSpPr>
          <p:spPr>
            <a:xfrm>
              <a:off x="1714386" y="763705"/>
              <a:ext cx="1555121" cy="49120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/>
                <a:t>INTEROPERABILITY SUPPORT FE</a:t>
              </a:r>
              <a:endParaRPr lang="it-IT" sz="1200" dirty="0"/>
            </a:p>
            <a:p>
              <a:pPr algn="ctr"/>
              <a:r>
                <a:rPr lang="it-IT" sz="1200" dirty="0"/>
                <a:t>Garantisce l’interoperabilità (compatibilità semantica e di formati tra i moduli)</a:t>
              </a:r>
              <a:endParaRPr lang="en-US" sz="12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430B268-36F1-16D4-3940-09C8520E36ED}"/>
              </a:ext>
            </a:extLst>
          </p:cNvPr>
          <p:cNvGrpSpPr/>
          <p:nvPr/>
        </p:nvGrpSpPr>
        <p:grpSpPr>
          <a:xfrm>
            <a:off x="4105410" y="3944846"/>
            <a:ext cx="1698626" cy="1257658"/>
            <a:chOff x="1813764" y="615998"/>
            <a:chExt cx="1334662" cy="5424879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E421B6B-1382-EEFE-97AD-5B0054E95190}"/>
                </a:ext>
              </a:extLst>
            </p:cNvPr>
            <p:cNvSpPr/>
            <p:nvPr/>
          </p:nvSpPr>
          <p:spPr>
            <a:xfrm>
              <a:off x="1817988" y="642026"/>
              <a:ext cx="1330438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0623A66-BD74-2549-91D9-3E78239C8C6E}"/>
                </a:ext>
              </a:extLst>
            </p:cNvPr>
            <p:cNvSpPr txBox="1"/>
            <p:nvPr/>
          </p:nvSpPr>
          <p:spPr>
            <a:xfrm>
              <a:off x="1813764" y="615998"/>
              <a:ext cx="1331855" cy="49120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/>
                <a:t>ACCESS CONTROL FE</a:t>
              </a:r>
            </a:p>
            <a:p>
              <a:pPr algn="ctr"/>
              <a:endParaRPr lang="it-IT" sz="1000" b="1" dirty="0"/>
            </a:p>
            <a:p>
              <a:pPr algn="ctr"/>
              <a:r>
                <a:rPr lang="it-IT" sz="1200" dirty="0"/>
                <a:t>Accesso basato sui ruoli (chi può visualizzare/modificare che cosa)</a:t>
              </a:r>
              <a:endParaRPr lang="en-US" sz="12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8AD34E6-FF55-6109-DC46-66616F783215}"/>
              </a:ext>
            </a:extLst>
          </p:cNvPr>
          <p:cNvGrpSpPr/>
          <p:nvPr/>
        </p:nvGrpSpPr>
        <p:grpSpPr>
          <a:xfrm>
            <a:off x="4110787" y="5330832"/>
            <a:ext cx="1693244" cy="1341966"/>
            <a:chOff x="1817991" y="642026"/>
            <a:chExt cx="1330434" cy="5788538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722FDF8-4362-D09D-5CC9-6E7EF55D7C2F}"/>
                </a:ext>
              </a:extLst>
            </p:cNvPr>
            <p:cNvSpPr/>
            <p:nvPr/>
          </p:nvSpPr>
          <p:spPr>
            <a:xfrm>
              <a:off x="1817991" y="642026"/>
              <a:ext cx="1330434" cy="5398850"/>
            </a:xfrm>
            <a:prstGeom prst="roundRect">
              <a:avLst/>
            </a:prstGeom>
            <a:noFill/>
            <a:ln>
              <a:solidFill>
                <a:srgbClr val="A6A6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94B5EF9-DB63-F226-87BC-CA3796249021}"/>
                </a:ext>
              </a:extLst>
            </p:cNvPr>
            <p:cNvSpPr txBox="1"/>
            <p:nvPr/>
          </p:nvSpPr>
          <p:spPr>
            <a:xfrm>
              <a:off x="1817992" y="721942"/>
              <a:ext cx="1327632" cy="57086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>
                  <a:solidFill>
                    <a:schemeClr val="bg1">
                      <a:lumMod val="65000"/>
                    </a:schemeClr>
                  </a:solidFill>
                </a:rPr>
                <a:t>PEER INTERFACE FE</a:t>
              </a:r>
            </a:p>
            <a:p>
              <a:pPr algn="ctr"/>
              <a:r>
                <a:rPr lang="it-IT" sz="1200" dirty="0">
                  <a:solidFill>
                    <a:schemeClr val="bg1">
                      <a:lumMod val="65000"/>
                    </a:schemeClr>
                  </a:solidFill>
                </a:rPr>
                <a:t>Contatto tra CE e </a:t>
              </a:r>
              <a:r>
                <a:rPr lang="it-IT" sz="1200" dirty="0" err="1">
                  <a:solidFill>
                    <a:schemeClr val="bg1">
                      <a:lumMod val="65000"/>
                    </a:schemeClr>
                  </a:solidFill>
                </a:rPr>
                <a:t>digital</a:t>
              </a:r>
              <a:r>
                <a:rPr lang="it-IT" sz="1200" dirty="0">
                  <a:solidFill>
                    <a:schemeClr val="bg1">
                      <a:lumMod val="65000"/>
                    </a:schemeClr>
                  </a:solidFill>
                </a:rPr>
                <a:t> twin o software e servizi esterni e tra CE e moduli (registro interfacce)</a:t>
              </a:r>
            </a:p>
            <a:p>
              <a:pPr algn="ctr"/>
              <a:endParaRPr lang="en-US" sz="100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5FE30F81-2259-67AC-4B19-8D12BF1AE765}"/>
              </a:ext>
            </a:extLst>
          </p:cNvPr>
          <p:cNvSpPr/>
          <p:nvPr/>
        </p:nvSpPr>
        <p:spPr>
          <a:xfrm>
            <a:off x="1864115" y="3625242"/>
            <a:ext cx="4073603" cy="3047556"/>
          </a:xfrm>
          <a:prstGeom prst="roundRect">
            <a:avLst>
              <a:gd name="adj" fmla="val 985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14224B5-7602-CA5D-452B-78E64FEE0A45}"/>
              </a:ext>
            </a:extLst>
          </p:cNvPr>
          <p:cNvGrpSpPr/>
          <p:nvPr/>
        </p:nvGrpSpPr>
        <p:grpSpPr>
          <a:xfrm>
            <a:off x="6351067" y="3796607"/>
            <a:ext cx="1699724" cy="1251624"/>
            <a:chOff x="1673157" y="642026"/>
            <a:chExt cx="1556427" cy="5398851"/>
          </a:xfrm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D63A685A-22B1-F0AC-B2EB-38B69BEB1AC1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31D51FA-DB78-FADE-A5C8-A36CC6C44992}"/>
                </a:ext>
              </a:extLst>
            </p:cNvPr>
            <p:cNvSpPr txBox="1"/>
            <p:nvPr/>
          </p:nvSpPr>
          <p:spPr>
            <a:xfrm>
              <a:off x="1673158" y="642026"/>
              <a:ext cx="1556426" cy="3318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/>
                <a:t>SIMULATION FE</a:t>
              </a:r>
            </a:p>
            <a:p>
              <a:pPr algn="ctr"/>
              <a:endParaRPr lang="it-IT" sz="1000" b="1" dirty="0"/>
            </a:p>
            <a:p>
              <a:pPr algn="ctr"/>
              <a:r>
                <a:rPr lang="it-IT" sz="1200" dirty="0"/>
                <a:t>Esecuzione del workflow (orchestratore)</a:t>
              </a:r>
              <a:endParaRPr lang="en-US" sz="1200" dirty="0"/>
            </a:p>
          </p:txBody>
        </p:sp>
      </p:grp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55656D1-AB5E-BE4B-3EED-3007F497FCD2}"/>
              </a:ext>
            </a:extLst>
          </p:cNvPr>
          <p:cNvCxnSpPr>
            <a:stCxn id="26" idx="1"/>
            <a:endCxn id="23" idx="3"/>
          </p:cNvCxnSpPr>
          <p:nvPr/>
        </p:nvCxnSpPr>
        <p:spPr>
          <a:xfrm flipH="1">
            <a:off x="8043699" y="2639031"/>
            <a:ext cx="354483" cy="4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09A380CD-B352-A1DC-4F2F-E21A4481688C}"/>
              </a:ext>
            </a:extLst>
          </p:cNvPr>
          <p:cNvCxnSpPr>
            <a:stCxn id="61" idx="3"/>
            <a:endCxn id="26" idx="3"/>
          </p:cNvCxnSpPr>
          <p:nvPr/>
        </p:nvCxnSpPr>
        <p:spPr>
          <a:xfrm flipV="1">
            <a:off x="8964522" y="2639031"/>
            <a:ext cx="1133384" cy="3376183"/>
          </a:xfrm>
          <a:prstGeom prst="bentConnector3">
            <a:avLst>
              <a:gd name="adj1" fmla="val 1201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74FFF465-B9C6-A7B0-21C7-D983777BCDBD}"/>
              </a:ext>
            </a:extLst>
          </p:cNvPr>
          <p:cNvCxnSpPr>
            <a:cxnSpLocks/>
            <a:stCxn id="73" idx="2"/>
            <a:endCxn id="14" idx="1"/>
          </p:cNvCxnSpPr>
          <p:nvPr/>
        </p:nvCxnSpPr>
        <p:spPr>
          <a:xfrm rot="5400000" flipH="1">
            <a:off x="2806221" y="653524"/>
            <a:ext cx="3682671" cy="5106745"/>
          </a:xfrm>
          <a:prstGeom prst="bentConnector4">
            <a:avLst>
              <a:gd name="adj1" fmla="val -6207"/>
              <a:gd name="adj2" fmla="val 10942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82BBACF7-7BC4-0C25-A11E-812351706614}"/>
              </a:ext>
            </a:extLst>
          </p:cNvPr>
          <p:cNvCxnSpPr>
            <a:stCxn id="23" idx="0"/>
            <a:endCxn id="57" idx="2"/>
          </p:cNvCxnSpPr>
          <p:nvPr/>
        </p:nvCxnSpPr>
        <p:spPr>
          <a:xfrm rot="5400000" flipH="1" flipV="1">
            <a:off x="7472885" y="1169147"/>
            <a:ext cx="717851" cy="12759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9B2669D3-37C3-12E1-4042-B428BBFFBED1}"/>
              </a:ext>
            </a:extLst>
          </p:cNvPr>
          <p:cNvCxnSpPr>
            <a:cxnSpLocks/>
            <a:stCxn id="57" idx="3"/>
            <a:endCxn id="17" idx="3"/>
          </p:cNvCxnSpPr>
          <p:nvPr/>
        </p:nvCxnSpPr>
        <p:spPr>
          <a:xfrm rot="5400000" flipH="1">
            <a:off x="7233874" y="43881"/>
            <a:ext cx="579111" cy="3404150"/>
          </a:xfrm>
          <a:prstGeom prst="bentConnector4">
            <a:avLst>
              <a:gd name="adj1" fmla="val -7559"/>
              <a:gd name="adj2" fmla="val 8196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56957553-1599-DF71-C1C3-426AF5BFC35D}"/>
              </a:ext>
            </a:extLst>
          </p:cNvPr>
          <p:cNvCxnSpPr>
            <a:stCxn id="14" idx="3"/>
            <a:endCxn id="46" idx="3"/>
          </p:cNvCxnSpPr>
          <p:nvPr/>
        </p:nvCxnSpPr>
        <p:spPr>
          <a:xfrm flipH="1">
            <a:off x="3799549" y="1365560"/>
            <a:ext cx="5204" cy="1338160"/>
          </a:xfrm>
          <a:prstGeom prst="bentConnector3">
            <a:avLst>
              <a:gd name="adj1" fmla="val -43927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94BF72AB-6BD4-D9E3-4E47-F29137FD387A}"/>
              </a:ext>
            </a:extLst>
          </p:cNvPr>
          <p:cNvCxnSpPr>
            <a:cxnSpLocks/>
          </p:cNvCxnSpPr>
          <p:nvPr/>
        </p:nvCxnSpPr>
        <p:spPr>
          <a:xfrm rot="5400000" flipH="1">
            <a:off x="3472699" y="1281090"/>
            <a:ext cx="2344511" cy="5111949"/>
          </a:xfrm>
          <a:prstGeom prst="bentConnector4">
            <a:avLst>
              <a:gd name="adj1" fmla="val -76965"/>
              <a:gd name="adj2" fmla="val 11132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EA777ECC-398B-4C56-3E86-4E195F0EF8BA}"/>
              </a:ext>
            </a:extLst>
          </p:cNvPr>
          <p:cNvCxnSpPr>
            <a:stCxn id="61" idx="1"/>
            <a:endCxn id="55" idx="3"/>
          </p:cNvCxnSpPr>
          <p:nvPr/>
        </p:nvCxnSpPr>
        <p:spPr>
          <a:xfrm flipH="1" flipV="1">
            <a:off x="5800466" y="6011079"/>
            <a:ext cx="1653896" cy="4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167E9EB5-4407-E89D-8371-6FCDFB7EE942}"/>
              </a:ext>
            </a:extLst>
          </p:cNvPr>
          <p:cNvCxnSpPr>
            <a:cxnSpLocks/>
            <a:stCxn id="61" idx="2"/>
          </p:cNvCxnSpPr>
          <p:nvPr/>
        </p:nvCxnSpPr>
        <p:spPr>
          <a:xfrm rot="5400000">
            <a:off x="7505380" y="6114886"/>
            <a:ext cx="388237" cy="101988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D97CA482-5674-04B0-462E-65C2A8E1D697}"/>
              </a:ext>
            </a:extLst>
          </p:cNvPr>
          <p:cNvCxnSpPr>
            <a:stCxn id="61" idx="1"/>
            <a:endCxn id="41" idx="3"/>
          </p:cNvCxnSpPr>
          <p:nvPr/>
        </p:nvCxnSpPr>
        <p:spPr>
          <a:xfrm rot="10800000">
            <a:off x="5804036" y="4576692"/>
            <a:ext cx="1650326" cy="1438522"/>
          </a:xfrm>
          <a:prstGeom prst="bentConnector3">
            <a:avLst>
              <a:gd name="adj1" fmla="val 8065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9E7C828C-E913-19BA-5EDE-EDF4E19CA07B}"/>
              </a:ext>
            </a:extLst>
          </p:cNvPr>
          <p:cNvCxnSpPr>
            <a:stCxn id="17" idx="0"/>
            <a:endCxn id="39" idx="1"/>
          </p:cNvCxnSpPr>
          <p:nvPr/>
        </p:nvCxnSpPr>
        <p:spPr>
          <a:xfrm rot="16200000" flipH="1" flipV="1">
            <a:off x="988294" y="1944694"/>
            <a:ext cx="5035459" cy="2920095"/>
          </a:xfrm>
          <a:prstGeom prst="bentConnector4">
            <a:avLst>
              <a:gd name="adj1" fmla="val -2029"/>
              <a:gd name="adj2" fmla="val 1218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B5438BAE-B0BD-7634-A9D3-33502DF5A8AB}"/>
              </a:ext>
            </a:extLst>
          </p:cNvPr>
          <p:cNvCxnSpPr>
            <a:stCxn id="22" idx="2"/>
            <a:endCxn id="74" idx="0"/>
          </p:cNvCxnSpPr>
          <p:nvPr/>
        </p:nvCxnSpPr>
        <p:spPr>
          <a:xfrm>
            <a:off x="7193836" y="3417669"/>
            <a:ext cx="7094" cy="378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: Elbow 163">
            <a:extLst>
              <a:ext uri="{FF2B5EF4-FFF2-40B4-BE49-F238E27FC236}">
                <a16:creationId xmlns:a16="http://schemas.microsoft.com/office/drawing/2014/main" id="{5349E6AD-98C3-2D6B-BD6F-85B1649C09B1}"/>
              </a:ext>
            </a:extLst>
          </p:cNvPr>
          <p:cNvCxnSpPr>
            <a:stCxn id="74" idx="1"/>
            <a:endCxn id="52" idx="3"/>
          </p:cNvCxnSpPr>
          <p:nvPr/>
        </p:nvCxnSpPr>
        <p:spPr>
          <a:xfrm rot="10800000">
            <a:off x="5821354" y="2780664"/>
            <a:ext cx="529715" cy="14006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61CDAF48-2903-520E-3DEE-64C586E0F68B}"/>
              </a:ext>
            </a:extLst>
          </p:cNvPr>
          <p:cNvCxnSpPr>
            <a:stCxn id="35" idx="3"/>
            <a:endCxn id="61" idx="2"/>
          </p:cNvCxnSpPr>
          <p:nvPr/>
        </p:nvCxnSpPr>
        <p:spPr>
          <a:xfrm>
            <a:off x="3875344" y="4571133"/>
            <a:ext cx="4334098" cy="1859579"/>
          </a:xfrm>
          <a:prstGeom prst="bentConnector4">
            <a:avLst>
              <a:gd name="adj1" fmla="val 2236"/>
              <a:gd name="adj2" fmla="val 1107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873F51C1-E39A-6E81-F419-113728ED9285}"/>
              </a:ext>
            </a:extLst>
          </p:cNvPr>
          <p:cNvGrpSpPr/>
          <p:nvPr/>
        </p:nvGrpSpPr>
        <p:grpSpPr>
          <a:xfrm>
            <a:off x="313086" y="3329798"/>
            <a:ext cx="1071271" cy="369332"/>
            <a:chOff x="-634276" y="4053087"/>
            <a:chExt cx="1071271" cy="369332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99AB845E-6923-846E-08E1-7DEDDFA25DD0}"/>
                </a:ext>
              </a:extLst>
            </p:cNvPr>
            <p:cNvSpPr txBox="1"/>
            <p:nvPr/>
          </p:nvSpPr>
          <p:spPr>
            <a:xfrm>
              <a:off x="-634276" y="4053087"/>
              <a:ext cx="1048927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/>
                <a:t>DCDCE</a:t>
              </a:r>
              <a:endParaRPr lang="en-US" b="1" dirty="0"/>
            </a:p>
          </p:txBody>
        </p:sp>
        <p:sp>
          <p:nvSpPr>
            <p:cNvPr id="182" name="Rectangle: Rounded Corners 181">
              <a:extLst>
                <a:ext uri="{FF2B5EF4-FFF2-40B4-BE49-F238E27FC236}">
                  <a16:creationId xmlns:a16="http://schemas.microsoft.com/office/drawing/2014/main" id="{9307A039-81A7-8B68-4A7B-678EB09B7E68}"/>
                </a:ext>
              </a:extLst>
            </p:cNvPr>
            <p:cNvSpPr/>
            <p:nvPr/>
          </p:nvSpPr>
          <p:spPr>
            <a:xfrm>
              <a:off x="-634276" y="4053087"/>
              <a:ext cx="1071271" cy="369332"/>
            </a:xfrm>
            <a:prstGeom prst="roundRect">
              <a:avLst/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84C8C8CE-D020-D7CE-8AA2-422D2B887E7E}"/>
              </a:ext>
            </a:extLst>
          </p:cNvPr>
          <p:cNvGrpSpPr/>
          <p:nvPr/>
        </p:nvGrpSpPr>
        <p:grpSpPr>
          <a:xfrm>
            <a:off x="10810217" y="4237753"/>
            <a:ext cx="1071271" cy="369332"/>
            <a:chOff x="-634276" y="4053087"/>
            <a:chExt cx="1071271" cy="369332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64F3172B-CEFE-00D7-F406-84FE5732939A}"/>
                </a:ext>
              </a:extLst>
            </p:cNvPr>
            <p:cNvSpPr txBox="1"/>
            <p:nvPr/>
          </p:nvSpPr>
          <p:spPr>
            <a:xfrm>
              <a:off x="-634276" y="4053087"/>
              <a:ext cx="1048927" cy="369332"/>
            </a:xfrm>
            <a:prstGeom prst="rect">
              <a:avLst/>
            </a:prstGeom>
            <a:grp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it-IT" dirty="0"/>
                <a:t>UE</a:t>
              </a:r>
              <a:endParaRPr lang="en-US" dirty="0"/>
            </a:p>
          </p:txBody>
        </p:sp>
        <p:sp>
          <p:nvSpPr>
            <p:cNvPr id="189" name="Rectangle: Rounded Corners 188">
              <a:extLst>
                <a:ext uri="{FF2B5EF4-FFF2-40B4-BE49-F238E27FC236}">
                  <a16:creationId xmlns:a16="http://schemas.microsoft.com/office/drawing/2014/main" id="{FE973491-DBB1-70D8-FD73-48B28A88034E}"/>
                </a:ext>
              </a:extLst>
            </p:cNvPr>
            <p:cNvSpPr/>
            <p:nvPr/>
          </p:nvSpPr>
          <p:spPr>
            <a:xfrm>
              <a:off x="-634276" y="4053087"/>
              <a:ext cx="1071271" cy="369332"/>
            </a:xfrm>
            <a:prstGeom prst="roundRect">
              <a:avLst/>
            </a:prstGeom>
            <a:noFill/>
            <a:ln w="190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91" name="Connector: Elbow 190">
            <a:extLst>
              <a:ext uri="{FF2B5EF4-FFF2-40B4-BE49-F238E27FC236}">
                <a16:creationId xmlns:a16="http://schemas.microsoft.com/office/drawing/2014/main" id="{F2552A1A-1C5E-8F7D-8DB5-4A86C5AFF3A1}"/>
              </a:ext>
            </a:extLst>
          </p:cNvPr>
          <p:cNvCxnSpPr>
            <a:stCxn id="57" idx="4"/>
            <a:endCxn id="29" idx="0"/>
          </p:cNvCxnSpPr>
          <p:nvPr/>
        </p:nvCxnSpPr>
        <p:spPr>
          <a:xfrm flipH="1">
            <a:off x="9264571" y="1448194"/>
            <a:ext cx="716656" cy="2348413"/>
          </a:xfrm>
          <a:prstGeom prst="bentConnector4">
            <a:avLst>
              <a:gd name="adj1" fmla="val -67190"/>
              <a:gd name="adj2" fmla="val 910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80F6C584-5D29-FFC1-26CB-E5A2155FB3A9}"/>
              </a:ext>
            </a:extLst>
          </p:cNvPr>
          <p:cNvCxnSpPr>
            <a:stCxn id="28" idx="3"/>
            <a:endCxn id="188" idx="1"/>
          </p:cNvCxnSpPr>
          <p:nvPr/>
        </p:nvCxnSpPr>
        <p:spPr>
          <a:xfrm>
            <a:off x="10114432" y="4422419"/>
            <a:ext cx="6957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: Elbow 196">
            <a:extLst>
              <a:ext uri="{FF2B5EF4-FFF2-40B4-BE49-F238E27FC236}">
                <a16:creationId xmlns:a16="http://schemas.microsoft.com/office/drawing/2014/main" id="{BA70877A-19A2-AE33-4956-53B54A08C6E6}"/>
              </a:ext>
            </a:extLst>
          </p:cNvPr>
          <p:cNvCxnSpPr>
            <a:stCxn id="189" idx="0"/>
            <a:endCxn id="26" idx="3"/>
          </p:cNvCxnSpPr>
          <p:nvPr/>
        </p:nvCxnSpPr>
        <p:spPr>
          <a:xfrm rot="16200000" flipV="1">
            <a:off x="9922519" y="2814418"/>
            <a:ext cx="1598722" cy="12479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: Elbow 198">
            <a:extLst>
              <a:ext uri="{FF2B5EF4-FFF2-40B4-BE49-F238E27FC236}">
                <a16:creationId xmlns:a16="http://schemas.microsoft.com/office/drawing/2014/main" id="{F50F1651-F862-8CFD-E9FA-69FA41105BC3}"/>
              </a:ext>
            </a:extLst>
          </p:cNvPr>
          <p:cNvCxnSpPr>
            <a:stCxn id="19" idx="0"/>
            <a:endCxn id="23" idx="3"/>
          </p:cNvCxnSpPr>
          <p:nvPr/>
        </p:nvCxnSpPr>
        <p:spPr>
          <a:xfrm rot="16200000" flipV="1">
            <a:off x="6832402" y="3854397"/>
            <a:ext cx="2595971" cy="1733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: Elbow 200">
            <a:extLst>
              <a:ext uri="{FF2B5EF4-FFF2-40B4-BE49-F238E27FC236}">
                <a16:creationId xmlns:a16="http://schemas.microsoft.com/office/drawing/2014/main" id="{55160C13-30CB-C58B-A8EA-D11CEC362271}"/>
              </a:ext>
            </a:extLst>
          </p:cNvPr>
          <p:cNvCxnSpPr>
            <a:stCxn id="182" idx="0"/>
            <a:endCxn id="17" idx="0"/>
          </p:cNvCxnSpPr>
          <p:nvPr/>
        </p:nvCxnSpPr>
        <p:spPr>
          <a:xfrm rot="5400000" flipH="1" flipV="1">
            <a:off x="1686004" y="49732"/>
            <a:ext cx="2442785" cy="4117349"/>
          </a:xfrm>
          <a:prstGeom prst="bentConnector3">
            <a:avLst>
              <a:gd name="adj1" fmla="val 1073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: Elbow 206">
            <a:extLst>
              <a:ext uri="{FF2B5EF4-FFF2-40B4-BE49-F238E27FC236}">
                <a16:creationId xmlns:a16="http://schemas.microsoft.com/office/drawing/2014/main" id="{47E0D447-F172-6CC9-B7A1-70EB72F6E551}"/>
              </a:ext>
            </a:extLst>
          </p:cNvPr>
          <p:cNvCxnSpPr>
            <a:stCxn id="182" idx="2"/>
            <a:endCxn id="39" idx="1"/>
          </p:cNvCxnSpPr>
          <p:nvPr/>
        </p:nvCxnSpPr>
        <p:spPr>
          <a:xfrm rot="16200000" flipH="1">
            <a:off x="335678" y="4212174"/>
            <a:ext cx="2223342" cy="11972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494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1CED8-CB48-494E-CE2D-B5370FEFE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F9F488EE-4CC3-8995-E65E-BEE3CACA8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0" y="733425"/>
            <a:ext cx="12022981" cy="546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746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B22889-A3B2-09E5-3194-150628370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678" y="892899"/>
            <a:ext cx="9424643" cy="5745904"/>
          </a:xfrm>
          <a:prstGeom prst="rect">
            <a:avLst/>
          </a:prstGeom>
        </p:spPr>
      </p:pic>
      <p:sp>
        <p:nvSpPr>
          <p:cNvPr id="4" name="Cylinder 3">
            <a:extLst>
              <a:ext uri="{FF2B5EF4-FFF2-40B4-BE49-F238E27FC236}">
                <a16:creationId xmlns:a16="http://schemas.microsoft.com/office/drawing/2014/main" id="{C68F76B9-77B3-B8C0-9154-54FAB82E2B60}"/>
              </a:ext>
            </a:extLst>
          </p:cNvPr>
          <p:cNvSpPr/>
          <p:nvPr/>
        </p:nvSpPr>
        <p:spPr>
          <a:xfrm>
            <a:off x="330740" y="136186"/>
            <a:ext cx="11371634" cy="6663446"/>
          </a:xfrm>
          <a:prstGeom prst="can">
            <a:avLst>
              <a:gd name="adj" fmla="val 9789"/>
            </a:avLst>
          </a:prstGeom>
          <a:noFill/>
          <a:ln w="19050">
            <a:solidFill>
              <a:srgbClr val="FF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39397C-90EB-4C0F-8730-948C719A5ADD}"/>
              </a:ext>
            </a:extLst>
          </p:cNvPr>
          <p:cNvSpPr txBox="1"/>
          <p:nvPr/>
        </p:nvSpPr>
        <p:spPr>
          <a:xfrm>
            <a:off x="3764604" y="301557"/>
            <a:ext cx="4396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MODEL REPOSITORY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138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3113BA-D1CB-1D37-EBAE-20DE0DC1B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35" y="93151"/>
            <a:ext cx="11253530" cy="668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839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69B8D-D013-5D03-1A87-A6D39D35F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D7831A4-59EA-C10D-D672-BF15C2E066AD}"/>
              </a:ext>
            </a:extLst>
          </p:cNvPr>
          <p:cNvGrpSpPr/>
          <p:nvPr/>
        </p:nvGrpSpPr>
        <p:grpSpPr>
          <a:xfrm>
            <a:off x="1683439" y="3124515"/>
            <a:ext cx="1071271" cy="369333"/>
            <a:chOff x="-651705" y="4053087"/>
            <a:chExt cx="1071271" cy="369333"/>
          </a:xfrm>
          <a:solidFill>
            <a:srgbClr val="FFCCFF"/>
          </a:solidFill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9566867-9DBE-1EF2-67A2-7763376CC521}"/>
                </a:ext>
              </a:extLst>
            </p:cNvPr>
            <p:cNvSpPr/>
            <p:nvPr/>
          </p:nvSpPr>
          <p:spPr>
            <a:xfrm>
              <a:off x="-651705" y="4053088"/>
              <a:ext cx="1071271" cy="369332"/>
            </a:xfrm>
            <a:prstGeom prst="roundRect">
              <a:avLst/>
            </a:prstGeom>
            <a:grpFill/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29F2994-9981-6E51-91FE-7AB1A63C49C6}"/>
                </a:ext>
              </a:extLst>
            </p:cNvPr>
            <p:cNvSpPr txBox="1"/>
            <p:nvPr/>
          </p:nvSpPr>
          <p:spPr>
            <a:xfrm>
              <a:off x="-634276" y="4053087"/>
              <a:ext cx="10489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/>
                <a:t>CE</a:t>
              </a:r>
              <a:endParaRPr lang="en-US" b="1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E22DAA-2DA0-A42E-A67B-2D7A0846CC86}"/>
              </a:ext>
            </a:extLst>
          </p:cNvPr>
          <p:cNvGrpSpPr/>
          <p:nvPr/>
        </p:nvGrpSpPr>
        <p:grpSpPr>
          <a:xfrm>
            <a:off x="3803637" y="829178"/>
            <a:ext cx="2185358" cy="5835566"/>
            <a:chOff x="1673157" y="642026"/>
            <a:chExt cx="1556426" cy="539885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4345972-0DE4-5D95-0DD1-9BA31406EA08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6D539B9-1AE0-6DC6-F59D-BF82ED6CFFDF}"/>
                </a:ext>
              </a:extLst>
            </p:cNvPr>
            <p:cNvSpPr txBox="1"/>
            <p:nvPr/>
          </p:nvSpPr>
          <p:spPr>
            <a:xfrm>
              <a:off x="1673157" y="642026"/>
              <a:ext cx="1556426" cy="4271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200" b="1" dirty="0"/>
                <a:t>DATA COLLECTION</a:t>
              </a:r>
            </a:p>
            <a:p>
              <a:pPr algn="ctr"/>
              <a:r>
                <a:rPr lang="it-IT" sz="1200" b="1" dirty="0"/>
                <a:t>SUB ENTITY</a:t>
              </a:r>
              <a:endParaRPr lang="en-US" sz="1200" b="1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712C14D-1EE0-3209-46C7-931057938BFC}"/>
              </a:ext>
            </a:extLst>
          </p:cNvPr>
          <p:cNvGrpSpPr/>
          <p:nvPr/>
        </p:nvGrpSpPr>
        <p:grpSpPr>
          <a:xfrm>
            <a:off x="6772534" y="838905"/>
            <a:ext cx="2185357" cy="5398851"/>
            <a:chOff x="1673157" y="642026"/>
            <a:chExt cx="1556426" cy="539885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6280902-9962-8C8C-EBEF-0F23F54B7E15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22A0431-79CF-6346-77FA-CE521752B200}"/>
                </a:ext>
              </a:extLst>
            </p:cNvPr>
            <p:cNvSpPr txBox="1"/>
            <p:nvPr/>
          </p:nvSpPr>
          <p:spPr>
            <a:xfrm>
              <a:off x="1673157" y="642026"/>
              <a:ext cx="15564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200" b="1" dirty="0"/>
                <a:t>DEVICE CONTROL</a:t>
              </a:r>
            </a:p>
            <a:p>
              <a:pPr algn="ctr"/>
              <a:r>
                <a:rPr lang="it-IT" sz="1200" b="1" dirty="0"/>
                <a:t>SUB ENTITY</a:t>
              </a:r>
              <a:endParaRPr lang="en-US" sz="1200" b="1" dirty="0"/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3D7E6F-0AFF-59EC-69C7-90A2E672C1E9}"/>
              </a:ext>
            </a:extLst>
          </p:cNvPr>
          <p:cNvSpPr/>
          <p:nvPr/>
        </p:nvSpPr>
        <p:spPr>
          <a:xfrm>
            <a:off x="3969006" y="2681829"/>
            <a:ext cx="1789875" cy="125162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7789D5-FAD5-8CB6-0183-29693F4F966E}"/>
              </a:ext>
            </a:extLst>
          </p:cNvPr>
          <p:cNvSpPr txBox="1"/>
          <p:nvPr/>
        </p:nvSpPr>
        <p:spPr>
          <a:xfrm>
            <a:off x="3969002" y="4341122"/>
            <a:ext cx="178987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/>
              <a:t>DATA COLLECTION FE</a:t>
            </a:r>
          </a:p>
          <a:p>
            <a:pPr algn="ctr"/>
            <a:endParaRPr lang="it-IT" sz="1000" b="1" dirty="0"/>
          </a:p>
          <a:p>
            <a:pPr algn="ctr"/>
            <a:r>
              <a:rPr lang="it-IT" sz="1200" dirty="0"/>
              <a:t>Raccoglie i dati</a:t>
            </a:r>
            <a:endParaRPr lang="en-US" sz="12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B796FCA-CE25-FCAF-A690-846983FA8D28}"/>
              </a:ext>
            </a:extLst>
          </p:cNvPr>
          <p:cNvGrpSpPr/>
          <p:nvPr/>
        </p:nvGrpSpPr>
        <p:grpSpPr>
          <a:xfrm>
            <a:off x="3969017" y="5296121"/>
            <a:ext cx="1789875" cy="1251624"/>
            <a:chOff x="1673157" y="642026"/>
            <a:chExt cx="1556427" cy="5398851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47E6435-CEDB-F65C-8AAA-7659980ADB1F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B8BD79C-2877-E19A-6B19-C3FD4A76BBF6}"/>
                </a:ext>
              </a:extLst>
            </p:cNvPr>
            <p:cNvSpPr txBox="1"/>
            <p:nvPr/>
          </p:nvSpPr>
          <p:spPr>
            <a:xfrm>
              <a:off x="1673158" y="642026"/>
              <a:ext cx="1556426" cy="4381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200" b="1" dirty="0"/>
                <a:t>DATA PREPROCESSING FE</a:t>
              </a:r>
            </a:p>
            <a:p>
              <a:pPr algn="ctr"/>
              <a:endParaRPr lang="it-IT" sz="1200" dirty="0"/>
            </a:p>
            <a:p>
              <a:pPr algn="ctr"/>
              <a:r>
                <a:rPr lang="it-IT" sz="1200" dirty="0"/>
                <a:t>Controllo input/output e generazione dei file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F4D6F0-04BC-A451-7D84-A668F9098A1B}"/>
              </a:ext>
            </a:extLst>
          </p:cNvPr>
          <p:cNvGrpSpPr/>
          <p:nvPr/>
        </p:nvGrpSpPr>
        <p:grpSpPr>
          <a:xfrm>
            <a:off x="6933446" y="1686823"/>
            <a:ext cx="1863531" cy="1251624"/>
            <a:chOff x="1673157" y="642026"/>
            <a:chExt cx="1556427" cy="5398851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84E7FB7A-AD79-95F7-6CC1-DD605B818330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E1611B7-0750-BECE-F3D4-B9FF815C85EF}"/>
                </a:ext>
              </a:extLst>
            </p:cNvPr>
            <p:cNvSpPr txBox="1"/>
            <p:nvPr/>
          </p:nvSpPr>
          <p:spPr>
            <a:xfrm>
              <a:off x="1673158" y="642026"/>
              <a:ext cx="1556426" cy="5044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200" b="1" dirty="0"/>
                <a:t>CONTROLLING FE</a:t>
              </a:r>
            </a:p>
            <a:p>
              <a:pPr algn="ctr"/>
              <a:endParaRPr lang="it-IT" sz="1000" b="1" dirty="0"/>
            </a:p>
            <a:p>
              <a:pPr algn="ctr"/>
              <a:r>
                <a:rPr lang="it-IT" sz="1200" dirty="0"/>
                <a:t>Controlla che il modulo che deve partire sia pronto e che gli input siano coerenti</a:t>
              </a:r>
              <a:endParaRPr lang="en-US" sz="12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BF39BC1-C3F8-8FA9-B9E8-435BD244C7D4}"/>
              </a:ext>
            </a:extLst>
          </p:cNvPr>
          <p:cNvGrpSpPr/>
          <p:nvPr/>
        </p:nvGrpSpPr>
        <p:grpSpPr>
          <a:xfrm>
            <a:off x="6954488" y="3741299"/>
            <a:ext cx="1821447" cy="1251624"/>
            <a:chOff x="1673157" y="642026"/>
            <a:chExt cx="1556427" cy="5398851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AFA5590-594F-773C-1175-A1856ADA8770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59466E1-33D5-480C-E20F-CF96638341BC}"/>
                </a:ext>
              </a:extLst>
            </p:cNvPr>
            <p:cNvSpPr txBox="1"/>
            <p:nvPr/>
          </p:nvSpPr>
          <p:spPr>
            <a:xfrm>
              <a:off x="1673158" y="642026"/>
              <a:ext cx="1556426" cy="35844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200" b="1" dirty="0"/>
                <a:t>ACTUATION FE</a:t>
              </a:r>
            </a:p>
            <a:p>
              <a:pPr algn="ctr"/>
              <a:endParaRPr lang="it-IT" sz="1200" dirty="0"/>
            </a:p>
            <a:p>
              <a:pPr algn="ctr"/>
              <a:r>
                <a:rPr lang="it-IT" sz="1200" dirty="0"/>
                <a:t>Attuazione e controllo dell’OME</a:t>
              </a:r>
              <a:endParaRPr lang="en-US" sz="1200" dirty="0"/>
            </a:p>
          </p:txBody>
        </p:sp>
      </p:grp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9EB7AA0-84B2-BCB7-D843-1CDEA13A4BD9}"/>
              </a:ext>
            </a:extLst>
          </p:cNvPr>
          <p:cNvSpPr/>
          <p:nvPr/>
        </p:nvSpPr>
        <p:spPr>
          <a:xfrm>
            <a:off x="3969010" y="4341625"/>
            <a:ext cx="1789874" cy="5752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4188BB-AAA5-7331-4090-7EAAFC6D7824}"/>
              </a:ext>
            </a:extLst>
          </p:cNvPr>
          <p:cNvSpPr txBox="1"/>
          <p:nvPr/>
        </p:nvSpPr>
        <p:spPr>
          <a:xfrm>
            <a:off x="3984016" y="3186198"/>
            <a:ext cx="17898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/>
              <a:t>TRANSMISSION</a:t>
            </a:r>
            <a:endParaRPr lang="en-US" sz="1200" b="1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45BC3B8-CB53-D633-3CAB-6E92E717F2B4}"/>
              </a:ext>
            </a:extLst>
          </p:cNvPr>
          <p:cNvGrpSpPr/>
          <p:nvPr/>
        </p:nvGrpSpPr>
        <p:grpSpPr>
          <a:xfrm>
            <a:off x="3969010" y="1282893"/>
            <a:ext cx="1789882" cy="1115845"/>
            <a:chOff x="6785043" y="1439694"/>
            <a:chExt cx="1162455" cy="698425"/>
          </a:xfrm>
        </p:grpSpPr>
        <p:sp>
          <p:nvSpPr>
            <p:cNvPr id="28" name="Cylinder 27">
              <a:extLst>
                <a:ext uri="{FF2B5EF4-FFF2-40B4-BE49-F238E27FC236}">
                  <a16:creationId xmlns:a16="http://schemas.microsoft.com/office/drawing/2014/main" id="{4663DCC2-896D-A7D9-FBAE-A0DBCBBF2A4B}"/>
                </a:ext>
              </a:extLst>
            </p:cNvPr>
            <p:cNvSpPr/>
            <p:nvPr/>
          </p:nvSpPr>
          <p:spPr>
            <a:xfrm>
              <a:off x="6785043" y="1439694"/>
              <a:ext cx="1162455" cy="698425"/>
            </a:xfrm>
            <a:prstGeom prst="can">
              <a:avLst>
                <a:gd name="adj" fmla="val 34308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3DD828A-E3D0-9926-CA48-ED86A1683C6D}"/>
                </a:ext>
              </a:extLst>
            </p:cNvPr>
            <p:cNvSpPr txBox="1"/>
            <p:nvPr/>
          </p:nvSpPr>
          <p:spPr>
            <a:xfrm>
              <a:off x="6879887" y="1471525"/>
              <a:ext cx="972766" cy="1733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200" b="1" dirty="0"/>
                <a:t>STORAGE</a:t>
              </a:r>
              <a:endParaRPr 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B6464A6-30FD-3CEE-BAAF-469B17015CA8}"/>
              </a:ext>
            </a:extLst>
          </p:cNvPr>
          <p:cNvSpPr txBox="1"/>
          <p:nvPr/>
        </p:nvSpPr>
        <p:spPr>
          <a:xfrm>
            <a:off x="3969017" y="1680365"/>
            <a:ext cx="1789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Folder comune con input/output files tra moduli e tra OME e DT</a:t>
            </a:r>
            <a:endParaRPr lang="en-US" sz="1200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254C78B-0483-47E9-5178-41782E9A1B3B}"/>
              </a:ext>
            </a:extLst>
          </p:cNvPr>
          <p:cNvSpPr/>
          <p:nvPr/>
        </p:nvSpPr>
        <p:spPr>
          <a:xfrm>
            <a:off x="2957210" y="110127"/>
            <a:ext cx="6284068" cy="6671351"/>
          </a:xfrm>
          <a:prstGeom prst="roundRect">
            <a:avLst>
              <a:gd name="adj" fmla="val 5576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52F270-8F41-F0FF-9171-C74641B6F448}"/>
              </a:ext>
            </a:extLst>
          </p:cNvPr>
          <p:cNvSpPr txBox="1"/>
          <p:nvPr/>
        </p:nvSpPr>
        <p:spPr>
          <a:xfrm>
            <a:off x="2846962" y="90477"/>
            <a:ext cx="6498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DATA COLLECTION AND DEVICE CONTROL ENTITY (DCDCE)</a:t>
            </a:r>
            <a:endParaRPr lang="en-US" dirty="0"/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B38CB3E4-BED2-9296-F89A-80DDD5A24BF5}"/>
              </a:ext>
            </a:extLst>
          </p:cNvPr>
          <p:cNvCxnSpPr>
            <a:stCxn id="17" idx="3"/>
            <a:endCxn id="30" idx="3"/>
          </p:cNvCxnSpPr>
          <p:nvPr/>
        </p:nvCxnSpPr>
        <p:spPr>
          <a:xfrm flipV="1">
            <a:off x="5758892" y="2003531"/>
            <a:ext cx="8" cy="3800422"/>
          </a:xfrm>
          <a:prstGeom prst="bentConnector3">
            <a:avLst>
              <a:gd name="adj1" fmla="val 21474836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4A2E012F-6EB7-6C30-A1B0-13096CC9C429}"/>
              </a:ext>
            </a:extLst>
          </p:cNvPr>
          <p:cNvCxnSpPr>
            <a:stCxn id="39" idx="0"/>
            <a:endCxn id="30" idx="1"/>
          </p:cNvCxnSpPr>
          <p:nvPr/>
        </p:nvCxnSpPr>
        <p:spPr>
          <a:xfrm rot="5400000" flipH="1" flipV="1">
            <a:off x="2533554" y="1689053"/>
            <a:ext cx="1120985" cy="174994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4DA5F0D9-6BC8-B1FA-15A9-6A57574B9D71}"/>
              </a:ext>
            </a:extLst>
          </p:cNvPr>
          <p:cNvCxnSpPr>
            <a:cxnSpLocks/>
            <a:stCxn id="38" idx="1"/>
            <a:endCxn id="20" idx="0"/>
          </p:cNvCxnSpPr>
          <p:nvPr/>
        </p:nvCxnSpPr>
        <p:spPr>
          <a:xfrm rot="10800000" flipH="1">
            <a:off x="1700868" y="1686823"/>
            <a:ext cx="6164344" cy="1622358"/>
          </a:xfrm>
          <a:prstGeom prst="bentConnector4">
            <a:avLst>
              <a:gd name="adj1" fmla="val -3708"/>
              <a:gd name="adj2" fmla="val 16026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84AB03D-B96F-6CDE-96BA-DEBD4EF19FCF}"/>
              </a:ext>
            </a:extLst>
          </p:cNvPr>
          <p:cNvCxnSpPr>
            <a:cxnSpLocks/>
            <a:stCxn id="19" idx="2"/>
            <a:endCxn id="23" idx="0"/>
          </p:cNvCxnSpPr>
          <p:nvPr/>
        </p:nvCxnSpPr>
        <p:spPr>
          <a:xfrm>
            <a:off x="7865211" y="2938447"/>
            <a:ext cx="1" cy="80285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D667DB0-055E-A149-20AF-6D59653791A8}"/>
              </a:ext>
            </a:extLst>
          </p:cNvPr>
          <p:cNvGrpSpPr/>
          <p:nvPr/>
        </p:nvGrpSpPr>
        <p:grpSpPr>
          <a:xfrm>
            <a:off x="9868613" y="3124516"/>
            <a:ext cx="1071271" cy="369332"/>
            <a:chOff x="-634276" y="4053087"/>
            <a:chExt cx="1071271" cy="369332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9EE1DCB5-4F09-A3B4-CCD8-BB81728880ED}"/>
                </a:ext>
              </a:extLst>
            </p:cNvPr>
            <p:cNvSpPr/>
            <p:nvPr/>
          </p:nvSpPr>
          <p:spPr>
            <a:xfrm>
              <a:off x="-634276" y="4053087"/>
              <a:ext cx="1071271" cy="369332"/>
            </a:xfrm>
            <a:prstGeom prst="roundRect">
              <a:avLst/>
            </a:prstGeom>
            <a:grp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1014D9F-1063-9B0B-5469-BA294738AAB1}"/>
                </a:ext>
              </a:extLst>
            </p:cNvPr>
            <p:cNvSpPr txBox="1"/>
            <p:nvPr/>
          </p:nvSpPr>
          <p:spPr>
            <a:xfrm>
              <a:off x="-634276" y="4053087"/>
              <a:ext cx="104892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/>
                <a:t>OME</a:t>
              </a:r>
              <a:endParaRPr lang="en-US" b="1" dirty="0"/>
            </a:p>
          </p:txBody>
        </p:sp>
      </p:grpSp>
      <p:cxnSp>
        <p:nvCxnSpPr>
          <p:cNvPr id="47" name="Connettore a gomito 46">
            <a:extLst>
              <a:ext uri="{FF2B5EF4-FFF2-40B4-BE49-F238E27FC236}">
                <a16:creationId xmlns:a16="http://schemas.microsoft.com/office/drawing/2014/main" id="{C717FE81-D66A-C3B8-72BC-2F17E4526C61}"/>
              </a:ext>
            </a:extLst>
          </p:cNvPr>
          <p:cNvCxnSpPr>
            <a:cxnSpLocks/>
            <a:stCxn id="28" idx="3"/>
            <a:endCxn id="17" idx="1"/>
          </p:cNvCxnSpPr>
          <p:nvPr/>
        </p:nvCxnSpPr>
        <p:spPr>
          <a:xfrm rot="5400000">
            <a:off x="2713878" y="3653879"/>
            <a:ext cx="3405215" cy="894933"/>
          </a:xfrm>
          <a:prstGeom prst="bentConnector4">
            <a:avLst>
              <a:gd name="adj1" fmla="val 4037"/>
              <a:gd name="adj2" fmla="val 1891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ttore 2 57">
            <a:extLst>
              <a:ext uri="{FF2B5EF4-FFF2-40B4-BE49-F238E27FC236}">
                <a16:creationId xmlns:a16="http://schemas.microsoft.com/office/drawing/2014/main" id="{44721C85-4505-F5D7-87BC-BF2AD94D8DB2}"/>
              </a:ext>
            </a:extLst>
          </p:cNvPr>
          <p:cNvCxnSpPr>
            <a:cxnSpLocks/>
            <a:stCxn id="13" idx="2"/>
            <a:endCxn id="25" idx="0"/>
          </p:cNvCxnSpPr>
          <p:nvPr/>
        </p:nvCxnSpPr>
        <p:spPr>
          <a:xfrm>
            <a:off x="4863944" y="3933453"/>
            <a:ext cx="3" cy="4081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a gomito 61">
            <a:extLst>
              <a:ext uri="{FF2B5EF4-FFF2-40B4-BE49-F238E27FC236}">
                <a16:creationId xmlns:a16="http://schemas.microsoft.com/office/drawing/2014/main" id="{BFF4AC29-97E8-D60D-5A4C-3EB875751C4F}"/>
              </a:ext>
            </a:extLst>
          </p:cNvPr>
          <p:cNvCxnSpPr>
            <a:cxnSpLocks/>
            <a:stCxn id="26" idx="1"/>
            <a:endCxn id="17" idx="1"/>
          </p:cNvCxnSpPr>
          <p:nvPr/>
        </p:nvCxnSpPr>
        <p:spPr>
          <a:xfrm rot="10800000" flipV="1">
            <a:off x="3969018" y="3324697"/>
            <a:ext cx="14998" cy="2479255"/>
          </a:xfrm>
          <a:prstGeom prst="bentConnector3">
            <a:avLst>
              <a:gd name="adj1" fmla="val 32346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ttore 2 68">
            <a:extLst>
              <a:ext uri="{FF2B5EF4-FFF2-40B4-BE49-F238E27FC236}">
                <a16:creationId xmlns:a16="http://schemas.microsoft.com/office/drawing/2014/main" id="{C402D12F-88DA-0C9C-7C89-C90C85D47302}"/>
              </a:ext>
            </a:extLst>
          </p:cNvPr>
          <p:cNvCxnSpPr>
            <a:cxnSpLocks/>
            <a:stCxn id="28" idx="3"/>
            <a:endCxn id="13" idx="0"/>
          </p:cNvCxnSpPr>
          <p:nvPr/>
        </p:nvCxnSpPr>
        <p:spPr>
          <a:xfrm flipH="1">
            <a:off x="4863944" y="2398738"/>
            <a:ext cx="7" cy="28309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ttore a gomito 74">
            <a:extLst>
              <a:ext uri="{FF2B5EF4-FFF2-40B4-BE49-F238E27FC236}">
                <a16:creationId xmlns:a16="http://schemas.microsoft.com/office/drawing/2014/main" id="{8EF0EEF8-B144-289A-47DD-C45B435A72B8}"/>
              </a:ext>
            </a:extLst>
          </p:cNvPr>
          <p:cNvCxnSpPr>
            <a:cxnSpLocks/>
            <a:stCxn id="84" idx="1"/>
            <a:endCxn id="25" idx="3"/>
          </p:cNvCxnSpPr>
          <p:nvPr/>
        </p:nvCxnSpPr>
        <p:spPr>
          <a:xfrm rot="10800000" flipV="1">
            <a:off x="5758885" y="3309182"/>
            <a:ext cx="4109729" cy="1320090"/>
          </a:xfrm>
          <a:prstGeom prst="bentConnector3">
            <a:avLst>
              <a:gd name="adj1" fmla="val 8274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ttore a gomito 85">
            <a:extLst>
              <a:ext uri="{FF2B5EF4-FFF2-40B4-BE49-F238E27FC236}">
                <a16:creationId xmlns:a16="http://schemas.microsoft.com/office/drawing/2014/main" id="{A51539BC-669D-A4BE-C6EB-906316DFF5FD}"/>
              </a:ext>
            </a:extLst>
          </p:cNvPr>
          <p:cNvCxnSpPr>
            <a:cxnSpLocks/>
            <a:stCxn id="83" idx="2"/>
            <a:endCxn id="22" idx="2"/>
          </p:cNvCxnSpPr>
          <p:nvPr/>
        </p:nvCxnSpPr>
        <p:spPr>
          <a:xfrm rot="5400000">
            <a:off x="8379607" y="2979452"/>
            <a:ext cx="1499075" cy="2527866"/>
          </a:xfrm>
          <a:prstGeom prst="bentConnector3">
            <a:avLst>
              <a:gd name="adj1" fmla="val 115249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400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1CFF91-C6D4-5AD7-2574-1A3E59F0E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62" y="142651"/>
            <a:ext cx="11031166" cy="658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24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2EBEC-BAC5-4FB6-1B91-04A7BA672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7299A60-C7DA-5BD7-D534-DD6B3FC9CB16}"/>
              </a:ext>
            </a:extLst>
          </p:cNvPr>
          <p:cNvGrpSpPr/>
          <p:nvPr/>
        </p:nvGrpSpPr>
        <p:grpSpPr>
          <a:xfrm>
            <a:off x="6266245" y="1228040"/>
            <a:ext cx="3078803" cy="5355639"/>
            <a:chOff x="1673157" y="642026"/>
            <a:chExt cx="1556427" cy="539885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9451CD0-A13A-FE73-7CA6-F58BD758B1C9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44B4C71-8EB7-5C49-3B22-BA01599A8069}"/>
                </a:ext>
              </a:extLst>
            </p:cNvPr>
            <p:cNvSpPr txBox="1"/>
            <p:nvPr/>
          </p:nvSpPr>
          <p:spPr>
            <a:xfrm>
              <a:off x="1673158" y="642026"/>
              <a:ext cx="1556426" cy="370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200" b="1" dirty="0"/>
                <a:t>VISUALIZATION</a:t>
              </a:r>
              <a:endParaRPr lang="en-US" sz="1200" b="1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95D3C14-0AAB-FDD7-7478-54C3D8358759}"/>
              </a:ext>
            </a:extLst>
          </p:cNvPr>
          <p:cNvGrpSpPr/>
          <p:nvPr/>
        </p:nvGrpSpPr>
        <p:grpSpPr>
          <a:xfrm>
            <a:off x="2827501" y="1228041"/>
            <a:ext cx="3078805" cy="5355639"/>
            <a:chOff x="1673157" y="642026"/>
            <a:chExt cx="1556427" cy="539885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04F7656-9F24-63B6-305B-D2F95B05A1F8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4062193-DB9C-0F04-18C0-608D84931492}"/>
                </a:ext>
              </a:extLst>
            </p:cNvPr>
            <p:cNvSpPr txBox="1"/>
            <p:nvPr/>
          </p:nvSpPr>
          <p:spPr>
            <a:xfrm>
              <a:off x="1673158" y="642026"/>
              <a:ext cx="1556426" cy="370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200" b="1" dirty="0"/>
                <a:t>PARAMETER SETTINGS</a:t>
              </a:r>
              <a:endParaRPr lang="en-US" sz="1200" b="1" dirty="0"/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22E1DF-3F8F-8F2D-A566-3B98301E7772}"/>
              </a:ext>
            </a:extLst>
          </p:cNvPr>
          <p:cNvSpPr/>
          <p:nvPr/>
        </p:nvSpPr>
        <p:spPr>
          <a:xfrm>
            <a:off x="2655651" y="79647"/>
            <a:ext cx="6857999" cy="6671351"/>
          </a:xfrm>
          <a:prstGeom prst="roundRect">
            <a:avLst>
              <a:gd name="adj" fmla="val 5576"/>
            </a:avLst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A3FB609-204D-7F9B-079F-2A1053B777E6}"/>
              </a:ext>
            </a:extLst>
          </p:cNvPr>
          <p:cNvGrpSpPr/>
          <p:nvPr/>
        </p:nvGrpSpPr>
        <p:grpSpPr>
          <a:xfrm>
            <a:off x="10136085" y="3143313"/>
            <a:ext cx="1048929" cy="369332"/>
            <a:chOff x="-634276" y="4053087"/>
            <a:chExt cx="1048929" cy="369332"/>
          </a:xfrm>
          <a:solidFill>
            <a:srgbClr val="FFCCFF"/>
          </a:solidFill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EA00361-667B-AB04-6507-544DF50E8B4E}"/>
                </a:ext>
              </a:extLst>
            </p:cNvPr>
            <p:cNvSpPr/>
            <p:nvPr/>
          </p:nvSpPr>
          <p:spPr>
            <a:xfrm>
              <a:off x="-634274" y="4053087"/>
              <a:ext cx="1048927" cy="369332"/>
            </a:xfrm>
            <a:prstGeom prst="roundRect">
              <a:avLst/>
            </a:prstGeom>
            <a:grpFill/>
            <a:ln w="19050">
              <a:solidFill>
                <a:srgbClr val="FF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EC9891-C341-78FA-4D61-8BD4844CA66A}"/>
                </a:ext>
              </a:extLst>
            </p:cNvPr>
            <p:cNvSpPr txBox="1"/>
            <p:nvPr/>
          </p:nvSpPr>
          <p:spPr>
            <a:xfrm>
              <a:off x="-634276" y="4053087"/>
              <a:ext cx="104892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it-IT" dirty="0"/>
                <a:t>CE</a:t>
              </a:r>
              <a:endParaRPr lang="en-US" dirty="0"/>
            </a:p>
          </p:txBody>
        </p:sp>
      </p:grp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A42C7475-1209-4A20-44DA-210908E8E6CF}"/>
              </a:ext>
            </a:extLst>
          </p:cNvPr>
          <p:cNvCxnSpPr>
            <a:cxnSpLocks/>
            <a:stCxn id="15" idx="2"/>
            <a:endCxn id="4" idx="3"/>
          </p:cNvCxnSpPr>
          <p:nvPr/>
        </p:nvCxnSpPr>
        <p:spPr>
          <a:xfrm rot="5400000">
            <a:off x="9806192" y="3051500"/>
            <a:ext cx="393215" cy="13155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02C6220-8C5D-D560-0DC6-07CB6170BC6B}"/>
              </a:ext>
            </a:extLst>
          </p:cNvPr>
          <p:cNvGrpSpPr/>
          <p:nvPr/>
        </p:nvGrpSpPr>
        <p:grpSpPr>
          <a:xfrm>
            <a:off x="1180454" y="3143313"/>
            <a:ext cx="1071271" cy="369332"/>
            <a:chOff x="-634276" y="4053087"/>
            <a:chExt cx="1071271" cy="369332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67A3BFFC-1B6C-C0AB-077F-1BF067A0DDFE}"/>
                </a:ext>
              </a:extLst>
            </p:cNvPr>
            <p:cNvSpPr/>
            <p:nvPr/>
          </p:nvSpPr>
          <p:spPr>
            <a:xfrm>
              <a:off x="-634276" y="4053087"/>
              <a:ext cx="1071271" cy="36933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8D1E89B-4B0F-B513-7DAE-0FD0C4B9616B}"/>
                </a:ext>
              </a:extLst>
            </p:cNvPr>
            <p:cNvSpPr txBox="1"/>
            <p:nvPr/>
          </p:nvSpPr>
          <p:spPr>
            <a:xfrm>
              <a:off x="-634276" y="4053087"/>
              <a:ext cx="104892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/>
                <a:t>OME</a:t>
              </a:r>
              <a:endParaRPr lang="en-US" b="1" dirty="0"/>
            </a:p>
          </p:txBody>
        </p:sp>
      </p:grp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7903E9E9-6337-34D7-170A-A7B44596D6CA}"/>
              </a:ext>
            </a:extLst>
          </p:cNvPr>
          <p:cNvCxnSpPr>
            <a:stCxn id="22" idx="2"/>
            <a:endCxn id="7" idx="1"/>
          </p:cNvCxnSpPr>
          <p:nvPr/>
        </p:nvCxnSpPr>
        <p:spPr>
          <a:xfrm rot="16200000" flipH="1">
            <a:off x="2069601" y="3147961"/>
            <a:ext cx="393216" cy="11225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6EE50DFE-F263-4600-9A26-98F321324791}"/>
              </a:ext>
            </a:extLst>
          </p:cNvPr>
          <p:cNvCxnSpPr>
            <a:stCxn id="8" idx="0"/>
            <a:endCxn id="23" idx="0"/>
          </p:cNvCxnSpPr>
          <p:nvPr/>
        </p:nvCxnSpPr>
        <p:spPr>
          <a:xfrm rot="16200000" flipH="1" flipV="1">
            <a:off x="2083862" y="860269"/>
            <a:ext cx="1915272" cy="2650815"/>
          </a:xfrm>
          <a:prstGeom prst="bentConnector3">
            <a:avLst>
              <a:gd name="adj1" fmla="val -1193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55DD4CF-B2D0-2D39-70CC-17B87B8BB51F}"/>
              </a:ext>
            </a:extLst>
          </p:cNvPr>
          <p:cNvSpPr txBox="1"/>
          <p:nvPr/>
        </p:nvSpPr>
        <p:spPr>
          <a:xfrm>
            <a:off x="2846962" y="59997"/>
            <a:ext cx="6498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USER ENTITY (UE)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E228178-AFC9-4F48-FC71-DC947BD11F31}"/>
              </a:ext>
            </a:extLst>
          </p:cNvPr>
          <p:cNvGrpSpPr/>
          <p:nvPr/>
        </p:nvGrpSpPr>
        <p:grpSpPr>
          <a:xfrm>
            <a:off x="3520423" y="1798087"/>
            <a:ext cx="1710570" cy="968141"/>
            <a:chOff x="1673157" y="642026"/>
            <a:chExt cx="1556427" cy="539885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C8AA1E4-2C77-B896-E8C9-50E28520790F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FBB9FF7-6841-3C8F-98BF-043BAF743CC2}"/>
                </a:ext>
              </a:extLst>
            </p:cNvPr>
            <p:cNvSpPr txBox="1"/>
            <p:nvPr/>
          </p:nvSpPr>
          <p:spPr>
            <a:xfrm>
              <a:off x="1673158" y="642026"/>
              <a:ext cx="1556426" cy="3318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/>
                <a:t>MISSION REQUEST</a:t>
              </a:r>
            </a:p>
            <a:p>
              <a:pPr algn="ctr"/>
              <a:endParaRPr lang="it-IT" sz="1000" b="1" dirty="0"/>
            </a:p>
            <a:p>
              <a:pPr algn="ctr"/>
              <a:r>
                <a:rPr lang="it-IT" sz="1200" dirty="0"/>
                <a:t>Documento con missione da progettare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FC68C48-DB50-F205-61BC-09EE45B093CD}"/>
              </a:ext>
            </a:extLst>
          </p:cNvPr>
          <p:cNvGrpSpPr/>
          <p:nvPr/>
        </p:nvGrpSpPr>
        <p:grpSpPr>
          <a:xfrm>
            <a:off x="3520421" y="2812788"/>
            <a:ext cx="1710570" cy="878510"/>
            <a:chOff x="1673157" y="642026"/>
            <a:chExt cx="1556427" cy="5398851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4611418D-3BD6-49A3-5254-669F8603FCAC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CBF3B85-A8D6-EC47-6A61-E1588C4BFC55}"/>
                </a:ext>
              </a:extLst>
            </p:cNvPr>
            <p:cNvSpPr txBox="1"/>
            <p:nvPr/>
          </p:nvSpPr>
          <p:spPr>
            <a:xfrm>
              <a:off x="1673158" y="642026"/>
              <a:ext cx="1556426" cy="3318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/>
                <a:t>REQUIREMENTS REVIEW</a:t>
              </a:r>
            </a:p>
            <a:p>
              <a:pPr algn="ctr"/>
              <a:endParaRPr lang="it-IT" sz="1000" b="1" dirty="0"/>
            </a:p>
            <a:p>
              <a:pPr algn="ctr"/>
              <a:r>
                <a:rPr lang="it-IT" sz="1200" dirty="0"/>
                <a:t>STAR estrae requisiti, l’utente può modificarli</a:t>
              </a:r>
              <a:endParaRPr lang="en-US" sz="12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269989-ED32-F548-AE88-ED427A5C8F69}"/>
              </a:ext>
            </a:extLst>
          </p:cNvPr>
          <p:cNvGrpSpPr/>
          <p:nvPr/>
        </p:nvGrpSpPr>
        <p:grpSpPr>
          <a:xfrm>
            <a:off x="3520422" y="3726582"/>
            <a:ext cx="1710570" cy="968141"/>
            <a:chOff x="1673157" y="642026"/>
            <a:chExt cx="1556427" cy="5949677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D06A9171-D1A2-1693-FE2F-502448E3DF8D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9E0DFF7-CF83-F67B-588A-FE5046CD048C}"/>
                </a:ext>
              </a:extLst>
            </p:cNvPr>
            <p:cNvSpPr txBox="1"/>
            <p:nvPr/>
          </p:nvSpPr>
          <p:spPr>
            <a:xfrm>
              <a:off x="1673158" y="642026"/>
              <a:ext cx="1556426" cy="5949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/>
                <a:t>ASSUMPTIONS  REVIEW</a:t>
              </a:r>
            </a:p>
            <a:p>
              <a:pPr algn="ctr"/>
              <a:endParaRPr lang="it-IT" sz="1000" b="1" dirty="0"/>
            </a:p>
            <a:p>
              <a:pPr algn="ctr"/>
              <a:r>
                <a:rPr lang="it-IT" sz="1200" dirty="0"/>
                <a:t>STAR propone delle assunzioni, l’utente può modificarle</a:t>
              </a:r>
              <a:endParaRPr lang="en-US" sz="12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970400F-3536-5B56-66F2-45C7EBDCCB16}"/>
              </a:ext>
            </a:extLst>
          </p:cNvPr>
          <p:cNvGrpSpPr/>
          <p:nvPr/>
        </p:nvGrpSpPr>
        <p:grpSpPr>
          <a:xfrm>
            <a:off x="3520422" y="4652138"/>
            <a:ext cx="1710570" cy="878510"/>
            <a:chOff x="1673157" y="642026"/>
            <a:chExt cx="1556427" cy="5398851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75C91225-43E7-8D8E-649C-AA3A51D01ED5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C5A38A8-D569-10A7-B5D5-0658F5CFA72F}"/>
                </a:ext>
              </a:extLst>
            </p:cNvPr>
            <p:cNvSpPr txBox="1"/>
            <p:nvPr/>
          </p:nvSpPr>
          <p:spPr>
            <a:xfrm>
              <a:off x="1673158" y="642026"/>
              <a:ext cx="1556426" cy="51513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/>
                <a:t>WORKFLOW  REVIEW</a:t>
              </a:r>
            </a:p>
            <a:p>
              <a:pPr algn="ctr"/>
              <a:endParaRPr lang="it-IT" sz="1000" b="1" dirty="0"/>
            </a:p>
            <a:p>
              <a:pPr algn="ctr"/>
              <a:r>
                <a:rPr lang="it-IT" sz="1200" dirty="0"/>
                <a:t>STAR propone un workflow, l’utente può modificarlo</a:t>
              </a:r>
              <a:endParaRPr lang="en-US" sz="12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7D44EF9-C435-FE53-0A6B-2A9588F50184}"/>
              </a:ext>
            </a:extLst>
          </p:cNvPr>
          <p:cNvGrpSpPr/>
          <p:nvPr/>
        </p:nvGrpSpPr>
        <p:grpSpPr>
          <a:xfrm>
            <a:off x="3425692" y="5568010"/>
            <a:ext cx="1882418" cy="878510"/>
            <a:chOff x="1594975" y="642026"/>
            <a:chExt cx="1712789" cy="5398851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DEDD3F5-2E78-52C2-C647-06D536221693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4D8FE00-00F0-17D2-FE8D-2CA243CF74AE}"/>
                </a:ext>
              </a:extLst>
            </p:cNvPr>
            <p:cNvSpPr txBox="1"/>
            <p:nvPr/>
          </p:nvSpPr>
          <p:spPr>
            <a:xfrm>
              <a:off x="1594975" y="813749"/>
              <a:ext cx="1712789" cy="4634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/>
                <a:t>WHAT-IF CONFIGURATION</a:t>
              </a:r>
            </a:p>
            <a:p>
              <a:pPr algn="ctr"/>
              <a:endParaRPr lang="it-IT" sz="900" b="1" dirty="0"/>
            </a:p>
            <a:p>
              <a:pPr algn="ctr"/>
              <a:r>
                <a:rPr lang="it-IT" sz="1200" dirty="0"/>
                <a:t>L’utente può configurare degli scenari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DA65721-9AA0-77C5-4834-4EB61CF12F14}"/>
              </a:ext>
            </a:extLst>
          </p:cNvPr>
          <p:cNvGrpSpPr/>
          <p:nvPr/>
        </p:nvGrpSpPr>
        <p:grpSpPr>
          <a:xfrm>
            <a:off x="7011362" y="2057167"/>
            <a:ext cx="1710570" cy="968141"/>
            <a:chOff x="1673157" y="642026"/>
            <a:chExt cx="1556427" cy="5398851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8F39984-9174-DDA8-189F-8F17DC341151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38777A5-FE43-D566-DCF2-0CD6609EC18C}"/>
                </a:ext>
              </a:extLst>
            </p:cNvPr>
            <p:cNvSpPr txBox="1"/>
            <p:nvPr/>
          </p:nvSpPr>
          <p:spPr>
            <a:xfrm>
              <a:off x="1673158" y="642026"/>
              <a:ext cx="1556426" cy="2402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/>
                <a:t>EXECUTION STATUS</a:t>
              </a:r>
            </a:p>
            <a:p>
              <a:pPr algn="ctr"/>
              <a:endParaRPr lang="en-US" sz="12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A00AE4C-D463-986A-5DE3-E9C7466996A5}"/>
              </a:ext>
            </a:extLst>
          </p:cNvPr>
          <p:cNvGrpSpPr/>
          <p:nvPr/>
        </p:nvGrpSpPr>
        <p:grpSpPr>
          <a:xfrm>
            <a:off x="7011360" y="3071868"/>
            <a:ext cx="1710570" cy="878510"/>
            <a:chOff x="1673157" y="642026"/>
            <a:chExt cx="1556427" cy="5398851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A5375D59-D532-0963-D6F7-30B3BA6399D6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D7C9EDF-603F-4988-CC7A-D832380547D6}"/>
                </a:ext>
              </a:extLst>
            </p:cNvPr>
            <p:cNvSpPr txBox="1"/>
            <p:nvPr/>
          </p:nvSpPr>
          <p:spPr>
            <a:xfrm>
              <a:off x="1673158" y="642026"/>
              <a:ext cx="1556426" cy="34045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/>
                <a:t>WORKFLOW VISUALIZATION</a:t>
              </a:r>
            </a:p>
            <a:p>
              <a:pPr algn="ctr"/>
              <a:endParaRPr lang="it-IT" sz="1000" b="1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07837B1-D75D-6282-6574-4F3320FB3B9A}"/>
              </a:ext>
            </a:extLst>
          </p:cNvPr>
          <p:cNvGrpSpPr/>
          <p:nvPr/>
        </p:nvGrpSpPr>
        <p:grpSpPr>
          <a:xfrm>
            <a:off x="7011361" y="3985662"/>
            <a:ext cx="1710570" cy="878510"/>
            <a:chOff x="1673157" y="642026"/>
            <a:chExt cx="1556427" cy="5398851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CAE91136-FEA3-5AA1-D309-1EF976B2BF1A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4BDD3E3-B66C-8F9A-2E66-7D2F24FDD7FF}"/>
                </a:ext>
              </a:extLst>
            </p:cNvPr>
            <p:cNvSpPr txBox="1"/>
            <p:nvPr/>
          </p:nvSpPr>
          <p:spPr>
            <a:xfrm>
              <a:off x="1673158" y="642026"/>
              <a:ext cx="1556426" cy="2648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/>
                <a:t>REPORTS</a:t>
              </a:r>
            </a:p>
            <a:p>
              <a:pPr algn="ctr"/>
              <a:endParaRPr lang="en-US" sz="12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8F200C6-D9D6-C707-1E25-FA21535FD468}"/>
              </a:ext>
            </a:extLst>
          </p:cNvPr>
          <p:cNvGrpSpPr/>
          <p:nvPr/>
        </p:nvGrpSpPr>
        <p:grpSpPr>
          <a:xfrm>
            <a:off x="7011361" y="4911218"/>
            <a:ext cx="1710570" cy="878510"/>
            <a:chOff x="1673157" y="642026"/>
            <a:chExt cx="1556427" cy="5398851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3A46F1BE-56E3-4FF7-DB1E-DBDC9A9127A9}"/>
                </a:ext>
              </a:extLst>
            </p:cNvPr>
            <p:cNvSpPr/>
            <p:nvPr/>
          </p:nvSpPr>
          <p:spPr>
            <a:xfrm>
              <a:off x="1673157" y="642026"/>
              <a:ext cx="1556426" cy="53988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550DC9F-A46A-CEE8-9EC8-6632835AD9C9}"/>
                </a:ext>
              </a:extLst>
            </p:cNvPr>
            <p:cNvSpPr txBox="1"/>
            <p:nvPr/>
          </p:nvSpPr>
          <p:spPr>
            <a:xfrm>
              <a:off x="1673158" y="642026"/>
              <a:ext cx="1556426" cy="2458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/>
                <a:t>WARNINGS AND DIAGNOSTICS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85072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DCA43-75A6-FECE-A14C-2D0B4CAE6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18CA230-E290-B854-7182-B301D79C73C6}"/>
              </a:ext>
            </a:extLst>
          </p:cNvPr>
          <p:cNvSpPr/>
          <p:nvPr/>
        </p:nvSpPr>
        <p:spPr>
          <a:xfrm>
            <a:off x="502920" y="2387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IoDT</a:t>
            </a: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: STAR come orchestratore di Digital Twin federati</a:t>
            </a:r>
            <a:endParaRPr lang="en-US" sz="25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A4716FAD-EEE8-ABC8-AD1C-A6A677317D5C}"/>
              </a:ext>
            </a:extLst>
          </p:cNvPr>
          <p:cNvSpPr/>
          <p:nvPr/>
        </p:nvSpPr>
        <p:spPr>
          <a:xfrm>
            <a:off x="914400" y="1198880"/>
            <a:ext cx="10287000" cy="1234440"/>
          </a:xfrm>
          <a:prstGeom prst="roundRect">
            <a:avLst>
              <a:gd name="adj" fmla="val 5926"/>
            </a:avLst>
          </a:prstGeom>
          <a:solidFill>
            <a:srgbClr val="FCE5D6"/>
          </a:solidFill>
          <a:ln w="12700">
            <a:solidFill>
              <a:srgbClr val="F5A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5814D636-AE77-4EDB-F737-04BB37F7547B}"/>
              </a:ext>
            </a:extLst>
          </p:cNvPr>
          <p:cNvSpPr/>
          <p:nvPr/>
        </p:nvSpPr>
        <p:spPr>
          <a:xfrm>
            <a:off x="1097280" y="1363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Twin Space</a:t>
            </a:r>
            <a:endParaRPr lang="en-US" sz="16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E0E05C5A-6E6F-11C2-65E8-C74DC40E0855}"/>
              </a:ext>
            </a:extLst>
          </p:cNvPr>
          <p:cNvSpPr/>
          <p:nvPr/>
        </p:nvSpPr>
        <p:spPr>
          <a:xfrm>
            <a:off x="3647440" y="1363472"/>
            <a:ext cx="7284720" cy="32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it-IT" sz="1900" dirty="0">
                <a:solidFill>
                  <a:srgbClr val="10233F"/>
                </a:solidFill>
                <a:latin typeface="Aptos" pitchFamily="34" charset="0"/>
              </a:rPr>
              <a:t>C</a:t>
            </a:r>
            <a:r>
              <a:rPr lang="en-US" sz="1900" dirty="0" err="1">
                <a:solidFill>
                  <a:srgbClr val="10233F"/>
                </a:solidFill>
                <a:latin typeface="Aptos" pitchFamily="34" charset="0"/>
              </a:rPr>
              <a:t>orrisponde</a:t>
            </a:r>
            <a:r>
              <a:rPr lang="en-US" sz="1900" dirty="0">
                <a:solidFill>
                  <a:srgbClr val="10233F"/>
                </a:solidFill>
                <a:latin typeface="Aptos" pitchFamily="34" charset="0"/>
              </a:rPr>
              <a:t> </a:t>
            </a:r>
            <a:r>
              <a:rPr lang="en-US" sz="1900" dirty="0" err="1">
                <a:solidFill>
                  <a:srgbClr val="10233F"/>
                </a:solidFill>
                <a:latin typeface="Aptos" pitchFamily="34" charset="0"/>
              </a:rPr>
              <a:t>all’OME</a:t>
            </a:r>
            <a:endParaRPr lang="en-US" sz="1900" dirty="0"/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11EEDDFD-CA98-CFC9-3176-AEA93A649069}"/>
              </a:ext>
            </a:extLst>
          </p:cNvPr>
          <p:cNvSpPr/>
          <p:nvPr/>
        </p:nvSpPr>
        <p:spPr>
          <a:xfrm>
            <a:off x="914400" y="2753360"/>
            <a:ext cx="10287000" cy="1234440"/>
          </a:xfrm>
          <a:prstGeom prst="roundRect">
            <a:avLst>
              <a:gd name="adj" fmla="val 5926"/>
            </a:avLst>
          </a:prstGeom>
          <a:solidFill>
            <a:srgbClr val="DCEBFA"/>
          </a:solidFill>
          <a:ln w="12700">
            <a:solidFill>
              <a:srgbClr val="8FB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8A305AFD-A8BF-669C-B182-062DCAA6D2F6}"/>
              </a:ext>
            </a:extLst>
          </p:cNvPr>
          <p:cNvSpPr/>
          <p:nvPr/>
        </p:nvSpPr>
        <p:spPr>
          <a:xfrm>
            <a:off x="1097280" y="2917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Intranet of Digital Twins</a:t>
            </a:r>
            <a:endParaRPr lang="en-US" sz="1600" dirty="0"/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5EB10BA9-A10D-1DA9-004B-C2C1CBAF9A29}"/>
              </a:ext>
            </a:extLst>
          </p:cNvPr>
          <p:cNvSpPr/>
          <p:nvPr/>
        </p:nvSpPr>
        <p:spPr>
          <a:xfrm>
            <a:off x="3647440" y="2917952"/>
            <a:ext cx="7447280" cy="85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it-IT" sz="2000" dirty="0">
                <a:solidFill>
                  <a:srgbClr val="10233F"/>
                </a:solidFill>
                <a:latin typeface="Aptos" pitchFamily="34" charset="0"/>
              </a:rPr>
              <a:t>D</a:t>
            </a:r>
            <a:r>
              <a:rPr lang="en-US" sz="2000" dirty="0" err="1">
                <a:solidFill>
                  <a:srgbClr val="10233F"/>
                </a:solidFill>
                <a:latin typeface="Aptos" pitchFamily="34" charset="0"/>
              </a:rPr>
              <a:t>igital</a:t>
            </a:r>
            <a:r>
              <a:rPr lang="en-US" sz="2000" dirty="0">
                <a:solidFill>
                  <a:srgbClr val="10233F"/>
                </a:solidFill>
                <a:latin typeface="Aptos" pitchFamily="34" charset="0"/>
              </a:rPr>
              <a:t> Twin </a:t>
            </a:r>
            <a:r>
              <a:rPr lang="en-US" sz="2000" dirty="0" err="1">
                <a:solidFill>
                  <a:srgbClr val="10233F"/>
                </a:solidFill>
                <a:latin typeface="Aptos" pitchFamily="34" charset="0"/>
              </a:rPr>
              <a:t>integrali</a:t>
            </a:r>
            <a:r>
              <a:rPr lang="en-US" sz="2000" dirty="0">
                <a:solidFill>
                  <a:srgbClr val="10233F"/>
                </a:solidFill>
                <a:latin typeface="Aptos" pitchFamily="34" charset="0"/>
              </a:rPr>
              <a:t> di ogni owner. </a:t>
            </a:r>
            <a:endParaRPr lang="en-US" sz="2000" dirty="0"/>
          </a:p>
        </p:txBody>
      </p:sp>
      <p:sp>
        <p:nvSpPr>
          <p:cNvPr id="41" name="Shape 8">
            <a:extLst>
              <a:ext uri="{FF2B5EF4-FFF2-40B4-BE49-F238E27FC236}">
                <a16:creationId xmlns:a16="http://schemas.microsoft.com/office/drawing/2014/main" id="{5C310AAB-14C7-159F-7E81-08AB7BE9F68D}"/>
              </a:ext>
            </a:extLst>
          </p:cNvPr>
          <p:cNvSpPr/>
          <p:nvPr/>
        </p:nvSpPr>
        <p:spPr>
          <a:xfrm>
            <a:off x="914400" y="4307840"/>
            <a:ext cx="10287000" cy="1234440"/>
          </a:xfrm>
          <a:prstGeom prst="roundRect">
            <a:avLst>
              <a:gd name="adj" fmla="val 5926"/>
            </a:avLst>
          </a:prstGeom>
          <a:solidFill>
            <a:srgbClr val="F4D6F4"/>
          </a:solidFill>
          <a:ln w="12700">
            <a:solidFill>
              <a:srgbClr val="E85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9B654AE0-C212-D9A0-BE0F-2BEC39D995E5}"/>
              </a:ext>
            </a:extLst>
          </p:cNvPr>
          <p:cNvSpPr/>
          <p:nvPr/>
        </p:nvSpPr>
        <p:spPr>
          <a:xfrm>
            <a:off x="1097280" y="4472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of Digital Twins</a:t>
            </a:r>
            <a:endParaRPr lang="en-US" sz="1600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3BAC38F1-71AB-DB0E-D0D5-312DEC2037CA}"/>
              </a:ext>
            </a:extLst>
          </p:cNvPr>
          <p:cNvSpPr/>
          <p:nvPr/>
        </p:nvSpPr>
        <p:spPr>
          <a:xfrm>
            <a:off x="3647440" y="4378960"/>
            <a:ext cx="74472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 lang="en-US" sz="2000" dirty="0">
                <a:solidFill>
                  <a:srgbClr val="10233F"/>
                </a:solidFill>
                <a:latin typeface="Aptos" pitchFamily="34" charset="0"/>
              </a:rPr>
              <a:t>La </a:t>
            </a:r>
            <a:r>
              <a:rPr lang="en-US" sz="2000" dirty="0" err="1">
                <a:solidFill>
                  <a:srgbClr val="10233F"/>
                </a:solidFill>
                <a:latin typeface="Aptos" pitchFamily="34" charset="0"/>
              </a:rPr>
              <a:t>parte</a:t>
            </a:r>
            <a:r>
              <a:rPr lang="en-US" sz="2000" dirty="0">
                <a:solidFill>
                  <a:srgbClr val="10233F"/>
                </a:solidFill>
                <a:latin typeface="Aptos" pitchFamily="34" charset="0"/>
              </a:rPr>
              <a:t> </a:t>
            </a:r>
            <a:r>
              <a:rPr lang="en-US" sz="2000" dirty="0" err="1">
                <a:solidFill>
                  <a:srgbClr val="10233F"/>
                </a:solidFill>
                <a:latin typeface="Aptos" pitchFamily="34" charset="0"/>
              </a:rPr>
              <a:t>condivisibile</a:t>
            </a:r>
            <a:r>
              <a:rPr lang="en-US" sz="2000" dirty="0">
                <a:solidFill>
                  <a:srgbClr val="10233F"/>
                </a:solidFill>
                <a:latin typeface="Aptos" pitchFamily="34" charset="0"/>
              </a:rPr>
              <a:t> </a:t>
            </a:r>
            <a:r>
              <a:rPr lang="en-US" sz="2000" dirty="0" err="1">
                <a:solidFill>
                  <a:srgbClr val="10233F"/>
                </a:solidFill>
                <a:latin typeface="Aptos" pitchFamily="34" charset="0"/>
              </a:rPr>
              <a:t>dei</a:t>
            </a:r>
            <a:r>
              <a:rPr lang="en-US" sz="2000" dirty="0">
                <a:solidFill>
                  <a:srgbClr val="10233F"/>
                </a:solidFill>
                <a:latin typeface="Aptos" pitchFamily="34" charset="0"/>
              </a:rPr>
              <a:t> moduli è </a:t>
            </a:r>
            <a:r>
              <a:rPr lang="en-US" sz="2000" dirty="0" err="1">
                <a:solidFill>
                  <a:srgbClr val="10233F"/>
                </a:solidFill>
                <a:latin typeface="Aptos" pitchFamily="34" charset="0"/>
              </a:rPr>
              <a:t>esposta</a:t>
            </a:r>
            <a:r>
              <a:rPr lang="en-US" sz="2000" dirty="0">
                <a:solidFill>
                  <a:srgbClr val="10233F"/>
                </a:solidFill>
                <a:latin typeface="Aptos" pitchFamily="34" charset="0"/>
              </a:rPr>
              <a:t> </a:t>
            </a:r>
            <a:r>
              <a:rPr lang="en-US" sz="2000" dirty="0" err="1">
                <a:solidFill>
                  <a:srgbClr val="10233F"/>
                </a:solidFill>
                <a:latin typeface="Aptos" pitchFamily="34" charset="0"/>
              </a:rPr>
              <a:t>all’Internet</a:t>
            </a:r>
            <a:r>
              <a:rPr lang="en-US" sz="2000" dirty="0">
                <a:solidFill>
                  <a:srgbClr val="10233F"/>
                </a:solidFill>
                <a:latin typeface="Aptos" pitchFamily="34" charset="0"/>
              </a:rPr>
              <a:t> of Digital Twins </a:t>
            </a:r>
            <a:r>
              <a:rPr lang="en-US" sz="2000" dirty="0" err="1">
                <a:solidFill>
                  <a:srgbClr val="10233F"/>
                </a:solidFill>
                <a:latin typeface="Aptos" pitchFamily="34" charset="0"/>
              </a:rPr>
              <a:t>tramite</a:t>
            </a:r>
            <a:r>
              <a:rPr lang="en-US" sz="2000" dirty="0">
                <a:solidFill>
                  <a:srgbClr val="10233F"/>
                </a:solidFill>
                <a:latin typeface="Aptos" pitchFamily="34" charset="0"/>
              </a:rPr>
              <a:t> knowledge graph e folder </a:t>
            </a:r>
            <a:r>
              <a:rPr lang="en-US" sz="2000" dirty="0" err="1">
                <a:solidFill>
                  <a:srgbClr val="10233F"/>
                </a:solidFill>
                <a:latin typeface="Aptos" pitchFamily="34" charset="0"/>
              </a:rPr>
              <a:t>condiviso</a:t>
            </a:r>
            <a:r>
              <a:rPr lang="en-US" sz="2000" dirty="0">
                <a:solidFill>
                  <a:srgbClr val="10233F"/>
                </a:solidFill>
                <a:latin typeface="Aptos" pitchFamily="34" charset="0"/>
              </a:rPr>
              <a:t> con file </a:t>
            </a:r>
            <a:r>
              <a:rPr lang="en-US" sz="2000" dirty="0" err="1">
                <a:solidFill>
                  <a:srgbClr val="10233F"/>
                </a:solidFill>
                <a:latin typeface="Aptos" pitchFamily="34" charset="0"/>
              </a:rPr>
              <a:t>eseguibili</a:t>
            </a:r>
            <a:r>
              <a:rPr lang="en-US" sz="2000" dirty="0">
                <a:solidFill>
                  <a:srgbClr val="10233F"/>
                </a:solidFill>
                <a:latin typeface="Aptos" pitchFamily="34" charset="0"/>
              </a:rPr>
              <a:t> . L’ </a:t>
            </a:r>
            <a:r>
              <a:rPr lang="en-US" sz="2000" dirty="0" err="1">
                <a:solidFill>
                  <a:srgbClr val="10233F"/>
                </a:solidFill>
                <a:latin typeface="Aptos" pitchFamily="34" charset="0"/>
              </a:rPr>
              <a:t>o</a:t>
            </a:r>
            <a:r>
              <a:rPr lang="en-US" sz="2000" dirty="0" err="1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rchestratore</a:t>
            </a:r>
            <a:r>
              <a:rPr lang="en-US" sz="20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supervisiona</a:t>
            </a:r>
            <a:r>
              <a:rPr lang="en-US" sz="20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lo </a:t>
            </a:r>
            <a:r>
              <a:rPr lang="en-US" sz="2000" dirty="0" err="1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strato</a:t>
            </a:r>
            <a:r>
              <a:rPr lang="en-US" sz="20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marketplace, </a:t>
            </a:r>
            <a:r>
              <a:rPr lang="en-US" sz="2000" dirty="0" err="1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facendo</a:t>
            </a:r>
            <a:r>
              <a:rPr lang="en-US" sz="20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corrispondere</a:t>
            </a:r>
            <a:r>
              <a:rPr lang="en-US" sz="20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r>
              <a:rPr lang="en-US" sz="20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moduli </a:t>
            </a:r>
            <a:r>
              <a:rPr lang="en-US" sz="2000" dirty="0" err="1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necessari</a:t>
            </a:r>
            <a:r>
              <a:rPr lang="en-US" sz="20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alle </a:t>
            </a:r>
            <a:r>
              <a:rPr lang="en-US" sz="2000" dirty="0" err="1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richieste</a:t>
            </a:r>
            <a:r>
              <a:rPr lang="en-US" sz="20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di </a:t>
            </a:r>
            <a:r>
              <a:rPr lang="en-US" sz="2000" dirty="0" err="1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missione</a:t>
            </a:r>
            <a:r>
              <a:rPr lang="en-US" sz="20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a </a:t>
            </a:r>
            <a:r>
              <a:rPr lang="en-US" sz="2000" dirty="0" err="1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seguito</a:t>
            </a:r>
            <a:r>
              <a:rPr lang="en-US" sz="20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della </a:t>
            </a:r>
            <a:r>
              <a:rPr lang="en-US" sz="2000" dirty="0" err="1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consultazione</a:t>
            </a:r>
            <a:r>
              <a:rPr lang="en-US" sz="20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Knowledge graph</a:t>
            </a:r>
            <a:endParaRPr lang="en-US" sz="2000" dirty="0"/>
          </a:p>
        </p:txBody>
      </p:sp>
      <p:sp>
        <p:nvSpPr>
          <p:cNvPr id="56" name="Shape 11">
            <a:extLst>
              <a:ext uri="{FF2B5EF4-FFF2-40B4-BE49-F238E27FC236}">
                <a16:creationId xmlns:a16="http://schemas.microsoft.com/office/drawing/2014/main" id="{C3BA62BB-110C-1B7B-818B-8BB2D9182588}"/>
              </a:ext>
            </a:extLst>
          </p:cNvPr>
          <p:cNvSpPr/>
          <p:nvPr/>
        </p:nvSpPr>
        <p:spPr>
          <a:xfrm>
            <a:off x="6053328" y="2433320"/>
            <a:ext cx="0" cy="274320"/>
          </a:xfrm>
          <a:prstGeom prst="line">
            <a:avLst/>
          </a:prstGeom>
          <a:noFill/>
          <a:ln w="15875">
            <a:solidFill>
              <a:srgbClr val="60708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12">
            <a:extLst>
              <a:ext uri="{FF2B5EF4-FFF2-40B4-BE49-F238E27FC236}">
                <a16:creationId xmlns:a16="http://schemas.microsoft.com/office/drawing/2014/main" id="{00472209-D42C-C84B-B5C5-52DD89BF361C}"/>
              </a:ext>
            </a:extLst>
          </p:cNvPr>
          <p:cNvSpPr/>
          <p:nvPr/>
        </p:nvSpPr>
        <p:spPr>
          <a:xfrm>
            <a:off x="6053328" y="3987800"/>
            <a:ext cx="0" cy="274320"/>
          </a:xfrm>
          <a:prstGeom prst="line">
            <a:avLst/>
          </a:prstGeom>
          <a:noFill/>
          <a:ln w="15875">
            <a:solidFill>
              <a:srgbClr val="60708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14">
            <a:extLst>
              <a:ext uri="{FF2B5EF4-FFF2-40B4-BE49-F238E27FC236}">
                <a16:creationId xmlns:a16="http://schemas.microsoft.com/office/drawing/2014/main" id="{5F83BF05-199B-89D5-3896-F3889385A6CF}"/>
              </a:ext>
            </a:extLst>
          </p:cNvPr>
          <p:cNvSpPr/>
          <p:nvPr/>
        </p:nvSpPr>
        <p:spPr>
          <a:xfrm>
            <a:off x="502920" y="6291072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A8797"/>
                </a:solidFill>
              </a:rPr>
              <a:t>Fonte: Lehmann et al., 2023 — Internet of Digital Twins, IDT proxy, marketplace knowledge graph.</a:t>
            </a:r>
            <a:endParaRPr lang="en-US" sz="680" dirty="0"/>
          </a:p>
        </p:txBody>
      </p:sp>
    </p:spTree>
    <p:extLst>
      <p:ext uri="{BB962C8B-B14F-4D97-AF65-F5344CB8AC3E}">
        <p14:creationId xmlns:p14="http://schemas.microsoft.com/office/powerpoint/2010/main" val="1460575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1D4AB-0638-E9A0-8599-664C4E5DD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4A0AF6-4D23-485F-ACAD-74A3F2CF75D3}"/>
              </a:ext>
            </a:extLst>
          </p:cNvPr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Flusso operativo STAR: dalla mission request al report</a:t>
            </a:r>
            <a:endParaRPr lang="en-US" sz="2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7095C41-963F-BA7D-4639-B2BE1143C5FC}"/>
              </a:ext>
            </a:extLst>
          </p:cNvPr>
          <p:cNvSpPr/>
          <p:nvPr/>
        </p:nvSpPr>
        <p:spPr>
          <a:xfrm>
            <a:off x="594360" y="2743200"/>
            <a:ext cx="1508760" cy="1143000"/>
          </a:xfrm>
          <a:prstGeom prst="roundRect">
            <a:avLst>
              <a:gd name="adj" fmla="val 6400"/>
            </a:avLst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5A2BC3C-6956-BC99-3F95-559DFB66BE61}"/>
              </a:ext>
            </a:extLst>
          </p:cNvPr>
          <p:cNvSpPr/>
          <p:nvPr/>
        </p:nvSpPr>
        <p:spPr>
          <a:xfrm>
            <a:off x="704088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6F98166-52F5-7419-312B-88171FCB512B}"/>
              </a:ext>
            </a:extLst>
          </p:cNvPr>
          <p:cNvSpPr/>
          <p:nvPr/>
        </p:nvSpPr>
        <p:spPr>
          <a:xfrm>
            <a:off x="731520" y="3127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request</a:t>
            </a:r>
            <a:endParaRPr lang="en-US" sz="11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EB8CA2A-41CA-EEA5-F47E-DCB1413C072E}"/>
              </a:ext>
            </a:extLst>
          </p:cNvPr>
          <p:cNvSpPr/>
          <p:nvPr/>
        </p:nvSpPr>
        <p:spPr>
          <a:xfrm>
            <a:off x="731520" y="341985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testo bando / proposta</a:t>
            </a:r>
            <a:endParaRPr lang="en-US" sz="8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1DC91F3-4296-B5BB-1C25-F8CB4697BDAD}"/>
              </a:ext>
            </a:extLst>
          </p:cNvPr>
          <p:cNvSpPr/>
          <p:nvPr/>
        </p:nvSpPr>
        <p:spPr>
          <a:xfrm>
            <a:off x="2130552" y="3319272"/>
            <a:ext cx="320040" cy="0"/>
          </a:xfrm>
          <a:prstGeom prst="line">
            <a:avLst/>
          </a:prstGeom>
          <a:noFill/>
          <a:ln w="12700">
            <a:solidFill>
              <a:srgbClr val="1C2E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1DC24FF-2E6E-BF2B-8450-A6A4DA7E897C}"/>
              </a:ext>
            </a:extLst>
          </p:cNvPr>
          <p:cNvSpPr/>
          <p:nvPr/>
        </p:nvSpPr>
        <p:spPr>
          <a:xfrm>
            <a:off x="2496312" y="2743200"/>
            <a:ext cx="1508760" cy="1143000"/>
          </a:xfrm>
          <a:prstGeom prst="roundRect">
            <a:avLst>
              <a:gd name="adj" fmla="val 6400"/>
            </a:avLst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5CC6B2E-CDA7-9FF3-13BE-8528F72BBC37}"/>
              </a:ext>
            </a:extLst>
          </p:cNvPr>
          <p:cNvSpPr/>
          <p:nvPr/>
        </p:nvSpPr>
        <p:spPr>
          <a:xfrm>
            <a:off x="260604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BFD222A-D7F5-4ACF-4BCE-019D913F1B44}"/>
              </a:ext>
            </a:extLst>
          </p:cNvPr>
          <p:cNvSpPr/>
          <p:nvPr/>
        </p:nvSpPr>
        <p:spPr>
          <a:xfrm>
            <a:off x="2633472" y="3127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</a:t>
            </a:r>
            <a:endParaRPr lang="en-US" sz="11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7628E9C-BAEB-D68E-1A63-FE40200381E8}"/>
              </a:ext>
            </a:extLst>
          </p:cNvPr>
          <p:cNvSpPr/>
          <p:nvPr/>
        </p:nvSpPr>
        <p:spPr>
          <a:xfrm>
            <a:off x="2633472" y="341985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estratti e revisionati</a:t>
            </a:r>
            <a:endParaRPr lang="en-US" sz="8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740D9BF-DE74-6C8C-97BA-8D23400DC95B}"/>
              </a:ext>
            </a:extLst>
          </p:cNvPr>
          <p:cNvSpPr/>
          <p:nvPr/>
        </p:nvSpPr>
        <p:spPr>
          <a:xfrm>
            <a:off x="4032504" y="3319272"/>
            <a:ext cx="320040" cy="0"/>
          </a:xfrm>
          <a:prstGeom prst="line">
            <a:avLst/>
          </a:prstGeom>
          <a:noFill/>
          <a:ln w="12700">
            <a:solidFill>
              <a:srgbClr val="1C2E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B561C38-C81C-F1E6-A7EF-381948EC31E1}"/>
              </a:ext>
            </a:extLst>
          </p:cNvPr>
          <p:cNvSpPr/>
          <p:nvPr/>
        </p:nvSpPr>
        <p:spPr>
          <a:xfrm>
            <a:off x="4398264" y="2743200"/>
            <a:ext cx="1508760" cy="1143000"/>
          </a:xfrm>
          <a:prstGeom prst="roundRect">
            <a:avLst>
              <a:gd name="adj" fmla="val 6400"/>
            </a:avLst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3E78B06-9036-10A3-E865-9A6211864D5A}"/>
              </a:ext>
            </a:extLst>
          </p:cNvPr>
          <p:cNvSpPr/>
          <p:nvPr/>
        </p:nvSpPr>
        <p:spPr>
          <a:xfrm>
            <a:off x="4507992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6737BE4-753C-D02A-D3DD-48D150E8D3AE}"/>
              </a:ext>
            </a:extLst>
          </p:cNvPr>
          <p:cNvSpPr/>
          <p:nvPr/>
        </p:nvSpPr>
        <p:spPr>
          <a:xfrm>
            <a:off x="4535424" y="3127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data</a:t>
            </a:r>
            <a:endParaRPr lang="en-US" sz="11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AE5E315-0A0D-3B45-7B17-056AD2FA89AB}"/>
              </a:ext>
            </a:extLst>
          </p:cNvPr>
          <p:cNvSpPr/>
          <p:nvPr/>
        </p:nvSpPr>
        <p:spPr>
          <a:xfrm>
            <a:off x="4535424" y="341985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it-IT" sz="850" dirty="0"/>
              <a:t>Assunzioni/stime</a:t>
            </a:r>
            <a:endParaRPr lang="en-US" sz="8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7EC3511-A7EC-BA98-D394-537CCB6D86C9}"/>
              </a:ext>
            </a:extLst>
          </p:cNvPr>
          <p:cNvSpPr/>
          <p:nvPr/>
        </p:nvSpPr>
        <p:spPr>
          <a:xfrm>
            <a:off x="5934456" y="3319272"/>
            <a:ext cx="320040" cy="0"/>
          </a:xfrm>
          <a:prstGeom prst="line">
            <a:avLst/>
          </a:prstGeom>
          <a:noFill/>
          <a:ln w="12700">
            <a:solidFill>
              <a:srgbClr val="1C2E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4B0BD02-79C9-4304-3B22-501C15301B2A}"/>
              </a:ext>
            </a:extLst>
          </p:cNvPr>
          <p:cNvSpPr/>
          <p:nvPr/>
        </p:nvSpPr>
        <p:spPr>
          <a:xfrm>
            <a:off x="6300216" y="2743200"/>
            <a:ext cx="1508760" cy="1143000"/>
          </a:xfrm>
          <a:prstGeom prst="roundRect">
            <a:avLst>
              <a:gd name="adj" fmla="val 6400"/>
            </a:avLst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CA87EE74-7B95-FDC3-94CB-CF97EA72E28E}"/>
              </a:ext>
            </a:extLst>
          </p:cNvPr>
          <p:cNvSpPr/>
          <p:nvPr/>
        </p:nvSpPr>
        <p:spPr>
          <a:xfrm>
            <a:off x="6409944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4C3F9B93-A240-EEC7-32F6-E8ED7DE03FE8}"/>
              </a:ext>
            </a:extLst>
          </p:cNvPr>
          <p:cNvSpPr/>
          <p:nvPr/>
        </p:nvSpPr>
        <p:spPr>
          <a:xfrm>
            <a:off x="6437376" y="3127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15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7D4CE65C-AE81-FFB8-4868-70F52E71E8CD}"/>
              </a:ext>
            </a:extLst>
          </p:cNvPr>
          <p:cNvSpPr/>
          <p:nvPr/>
        </p:nvSpPr>
        <p:spPr>
          <a:xfrm>
            <a:off x="6437376" y="341985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moduli e dipendenze</a:t>
            </a:r>
            <a:endParaRPr lang="en-US" sz="85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45532486-68DD-25B7-3293-FCBDC4C2FF73}"/>
              </a:ext>
            </a:extLst>
          </p:cNvPr>
          <p:cNvSpPr/>
          <p:nvPr/>
        </p:nvSpPr>
        <p:spPr>
          <a:xfrm>
            <a:off x="7836408" y="3319272"/>
            <a:ext cx="320040" cy="0"/>
          </a:xfrm>
          <a:prstGeom prst="line">
            <a:avLst/>
          </a:prstGeom>
          <a:noFill/>
          <a:ln w="12700">
            <a:solidFill>
              <a:srgbClr val="1C2E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0C392F1-BF0F-2AF1-9107-31F54EED703A}"/>
              </a:ext>
            </a:extLst>
          </p:cNvPr>
          <p:cNvSpPr/>
          <p:nvPr/>
        </p:nvSpPr>
        <p:spPr>
          <a:xfrm>
            <a:off x="8202168" y="2743200"/>
            <a:ext cx="1508760" cy="1143000"/>
          </a:xfrm>
          <a:prstGeom prst="roundRect">
            <a:avLst>
              <a:gd name="adj" fmla="val 6400"/>
            </a:avLst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D0A649C6-34A5-C725-5956-0CC6A960067F}"/>
              </a:ext>
            </a:extLst>
          </p:cNvPr>
          <p:cNvSpPr/>
          <p:nvPr/>
        </p:nvSpPr>
        <p:spPr>
          <a:xfrm>
            <a:off x="8311896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F13E9380-FDB6-854F-08F4-B2196D117DA1}"/>
              </a:ext>
            </a:extLst>
          </p:cNvPr>
          <p:cNvSpPr/>
          <p:nvPr/>
        </p:nvSpPr>
        <p:spPr>
          <a:xfrm>
            <a:off x="8339328" y="3127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50" dirty="0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7FB40B77-86CC-CE38-D7A5-4FB2A224EB03}"/>
              </a:ext>
            </a:extLst>
          </p:cNvPr>
          <p:cNvSpPr/>
          <p:nvPr/>
        </p:nvSpPr>
        <p:spPr>
          <a:xfrm>
            <a:off x="8339328" y="341985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files + adapters</a:t>
            </a:r>
            <a:endParaRPr lang="en-US" sz="850" dirty="0"/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11F972F1-D0AC-9C94-D30C-0174CBAC8D3E}"/>
              </a:ext>
            </a:extLst>
          </p:cNvPr>
          <p:cNvSpPr/>
          <p:nvPr/>
        </p:nvSpPr>
        <p:spPr>
          <a:xfrm>
            <a:off x="9738360" y="3319272"/>
            <a:ext cx="320040" cy="0"/>
          </a:xfrm>
          <a:prstGeom prst="line">
            <a:avLst/>
          </a:prstGeom>
          <a:noFill/>
          <a:ln w="12700">
            <a:solidFill>
              <a:srgbClr val="1C2E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B00FBB00-3E9D-7E0D-1CE6-88DFD467F1F0}"/>
              </a:ext>
            </a:extLst>
          </p:cNvPr>
          <p:cNvSpPr/>
          <p:nvPr/>
        </p:nvSpPr>
        <p:spPr>
          <a:xfrm>
            <a:off x="10104120" y="2743200"/>
            <a:ext cx="1508760" cy="1143000"/>
          </a:xfrm>
          <a:prstGeom prst="roundRect">
            <a:avLst>
              <a:gd name="adj" fmla="val 6400"/>
            </a:avLst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EFE5D423-4B4E-4C9C-FF46-11C6CBD3DB5B}"/>
              </a:ext>
            </a:extLst>
          </p:cNvPr>
          <p:cNvSpPr/>
          <p:nvPr/>
        </p:nvSpPr>
        <p:spPr>
          <a:xfrm>
            <a:off x="10213848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0568EFEA-4D49-D23E-1079-96200EB13DAE}"/>
              </a:ext>
            </a:extLst>
          </p:cNvPr>
          <p:cNvSpPr/>
          <p:nvPr/>
        </p:nvSpPr>
        <p:spPr>
          <a:xfrm>
            <a:off x="10241280" y="3127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1150" dirty="0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3AFEBA00-57E1-791D-45D9-549400913661}"/>
              </a:ext>
            </a:extLst>
          </p:cNvPr>
          <p:cNvSpPr/>
          <p:nvPr/>
        </p:nvSpPr>
        <p:spPr>
          <a:xfrm>
            <a:off x="10241280" y="341985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traceability + outputs</a:t>
            </a:r>
            <a:endParaRPr lang="en-US" sz="850" dirty="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4B53CE7F-64A3-CD65-A3E7-5A02041E1C81}"/>
              </a:ext>
            </a:extLst>
          </p:cNvPr>
          <p:cNvSpPr/>
          <p:nvPr/>
        </p:nvSpPr>
        <p:spPr>
          <a:xfrm>
            <a:off x="1721104" y="141732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F4F7FB"/>
          </a:solidFill>
          <a:ln w="12700">
            <a:solidFill>
              <a:srgbClr val="C8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184C765A-8264-63AB-ACBD-5E67A2D7E8F2}"/>
              </a:ext>
            </a:extLst>
          </p:cNvPr>
          <p:cNvSpPr/>
          <p:nvPr/>
        </p:nvSpPr>
        <p:spPr>
          <a:xfrm>
            <a:off x="1794256" y="1481328"/>
            <a:ext cx="2688336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validates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schema + registry consistency</a:t>
            </a:r>
            <a:endParaRPr lang="en-US" sz="1150" dirty="0"/>
          </a:p>
        </p:txBody>
      </p:sp>
      <p:sp>
        <p:nvSpPr>
          <p:cNvPr id="44" name="Shape 35">
            <a:extLst>
              <a:ext uri="{FF2B5EF4-FFF2-40B4-BE49-F238E27FC236}">
                <a16:creationId xmlns:a16="http://schemas.microsoft.com/office/drawing/2014/main" id="{D95850B6-75F4-7749-E386-D04AA49E8E54}"/>
              </a:ext>
            </a:extLst>
          </p:cNvPr>
          <p:cNvSpPr/>
          <p:nvPr/>
        </p:nvSpPr>
        <p:spPr>
          <a:xfrm>
            <a:off x="4692904" y="141732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F4F7FB"/>
          </a:solidFill>
          <a:ln w="12700">
            <a:solidFill>
              <a:srgbClr val="C8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6">
            <a:extLst>
              <a:ext uri="{FF2B5EF4-FFF2-40B4-BE49-F238E27FC236}">
                <a16:creationId xmlns:a16="http://schemas.microsoft.com/office/drawing/2014/main" id="{C1461532-9752-C9A0-14A3-B014775B77B3}"/>
              </a:ext>
            </a:extLst>
          </p:cNvPr>
          <p:cNvSpPr/>
          <p:nvPr/>
        </p:nvSpPr>
        <p:spPr>
          <a:xfrm>
            <a:off x="4766056" y="1481328"/>
            <a:ext cx="2414016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engineer approves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 command control</a:t>
            </a:r>
            <a:endParaRPr lang="en-US" sz="1150" dirty="0"/>
          </a:p>
        </p:txBody>
      </p:sp>
      <p:sp>
        <p:nvSpPr>
          <p:cNvPr id="46" name="Shape 37">
            <a:extLst>
              <a:ext uri="{FF2B5EF4-FFF2-40B4-BE49-F238E27FC236}">
                <a16:creationId xmlns:a16="http://schemas.microsoft.com/office/drawing/2014/main" id="{B569B42F-E2DD-C3A9-0CC0-9183F2DA802B}"/>
              </a:ext>
            </a:extLst>
          </p:cNvPr>
          <p:cNvSpPr/>
          <p:nvPr/>
        </p:nvSpPr>
        <p:spPr>
          <a:xfrm>
            <a:off x="7390384" y="141732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F4F7FB"/>
          </a:solidFill>
          <a:ln w="12700">
            <a:solidFill>
              <a:srgbClr val="C8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8">
            <a:extLst>
              <a:ext uri="{FF2B5EF4-FFF2-40B4-BE49-F238E27FC236}">
                <a16:creationId xmlns:a16="http://schemas.microsoft.com/office/drawing/2014/main" id="{F0BBBF0E-8C84-19A0-A048-39E92B5D4717}"/>
              </a:ext>
            </a:extLst>
          </p:cNvPr>
          <p:cNvSpPr/>
          <p:nvPr/>
        </p:nvSpPr>
        <p:spPr>
          <a:xfrm>
            <a:off x="7463536" y="1481328"/>
            <a:ext cx="2688336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DCDCE executes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I/O + adapters + outputs</a:t>
            </a:r>
            <a:endParaRPr lang="en-US" sz="1150" dirty="0"/>
          </a:p>
        </p:txBody>
      </p:sp>
      <p:sp>
        <p:nvSpPr>
          <p:cNvPr id="48" name="Shape 2">
            <a:extLst>
              <a:ext uri="{FF2B5EF4-FFF2-40B4-BE49-F238E27FC236}">
                <a16:creationId xmlns:a16="http://schemas.microsoft.com/office/drawing/2014/main" id="{7D326973-4DEB-009A-C556-6FBF19CE947A}"/>
              </a:ext>
            </a:extLst>
          </p:cNvPr>
          <p:cNvSpPr/>
          <p:nvPr/>
        </p:nvSpPr>
        <p:spPr>
          <a:xfrm>
            <a:off x="3127248" y="4955410"/>
            <a:ext cx="1481328" cy="520702"/>
          </a:xfrm>
          <a:prstGeom prst="roundRect">
            <a:avLst>
              <a:gd name="adj" fmla="val 640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">
            <a:extLst>
              <a:ext uri="{FF2B5EF4-FFF2-40B4-BE49-F238E27FC236}">
                <a16:creationId xmlns:a16="http://schemas.microsoft.com/office/drawing/2014/main" id="{2299C6A5-8518-091C-D5BE-30A11D6748E7}"/>
              </a:ext>
            </a:extLst>
          </p:cNvPr>
          <p:cNvSpPr/>
          <p:nvPr/>
        </p:nvSpPr>
        <p:spPr>
          <a:xfrm>
            <a:off x="3246628" y="51012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TWIN</a:t>
            </a:r>
            <a:endParaRPr lang="en-US" sz="1150" dirty="0"/>
          </a:p>
        </p:txBody>
      </p:sp>
      <p:sp>
        <p:nvSpPr>
          <p:cNvPr id="50" name="Shape 2">
            <a:extLst>
              <a:ext uri="{FF2B5EF4-FFF2-40B4-BE49-F238E27FC236}">
                <a16:creationId xmlns:a16="http://schemas.microsoft.com/office/drawing/2014/main" id="{A9B33855-D0D7-2273-984B-FBC6E94D26E4}"/>
              </a:ext>
            </a:extLst>
          </p:cNvPr>
          <p:cNvSpPr/>
          <p:nvPr/>
        </p:nvSpPr>
        <p:spPr>
          <a:xfrm>
            <a:off x="5173980" y="5470777"/>
            <a:ext cx="1481328" cy="520702"/>
          </a:xfrm>
          <a:prstGeom prst="roundRect">
            <a:avLst>
              <a:gd name="adj" fmla="val 640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2303A098-16A0-EEA7-9194-95741E81B3D1}"/>
              </a:ext>
            </a:extLst>
          </p:cNvPr>
          <p:cNvSpPr/>
          <p:nvPr/>
        </p:nvSpPr>
        <p:spPr>
          <a:xfrm>
            <a:off x="5293360" y="5616571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INTRANET OF DIGITAL TWINS</a:t>
            </a:r>
            <a:endParaRPr lang="en-US" sz="1150" dirty="0"/>
          </a:p>
        </p:txBody>
      </p:sp>
      <p:sp>
        <p:nvSpPr>
          <p:cNvPr id="52" name="Shape 2">
            <a:extLst>
              <a:ext uri="{FF2B5EF4-FFF2-40B4-BE49-F238E27FC236}">
                <a16:creationId xmlns:a16="http://schemas.microsoft.com/office/drawing/2014/main" id="{611E1922-82D7-1D13-4E91-204479723AE2}"/>
              </a:ext>
            </a:extLst>
          </p:cNvPr>
          <p:cNvSpPr/>
          <p:nvPr/>
        </p:nvSpPr>
        <p:spPr>
          <a:xfrm>
            <a:off x="7278624" y="4924297"/>
            <a:ext cx="1481328" cy="520702"/>
          </a:xfrm>
          <a:prstGeom prst="roundRect">
            <a:avLst>
              <a:gd name="adj" fmla="val 6400"/>
            </a:avLst>
          </a:prstGeom>
          <a:solidFill>
            <a:srgbClr val="FFCCFF"/>
          </a:solidFill>
          <a:ln w="12700">
            <a:solidFill>
              <a:srgbClr val="FF6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">
            <a:extLst>
              <a:ext uri="{FF2B5EF4-FFF2-40B4-BE49-F238E27FC236}">
                <a16:creationId xmlns:a16="http://schemas.microsoft.com/office/drawing/2014/main" id="{58A6AE63-CC57-3D3D-C1C1-28B0E57A5B0E}"/>
              </a:ext>
            </a:extLst>
          </p:cNvPr>
          <p:cNvSpPr/>
          <p:nvPr/>
        </p:nvSpPr>
        <p:spPr>
          <a:xfrm>
            <a:off x="7398004" y="5070091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OF DIGITAL TWINS</a:t>
            </a:r>
            <a:endParaRPr lang="en-US" sz="1150" dirty="0"/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E9DB1598-D2E9-2091-10EA-2D4539848698}"/>
              </a:ext>
            </a:extLst>
          </p:cNvPr>
          <p:cNvCxnSpPr>
            <a:stCxn id="4" idx="2"/>
            <a:endCxn id="52" idx="0"/>
          </p:cNvCxnSpPr>
          <p:nvPr/>
        </p:nvCxnSpPr>
        <p:spPr>
          <a:xfrm rot="16200000" flipH="1">
            <a:off x="4164966" y="1069974"/>
            <a:ext cx="1038097" cy="6670548"/>
          </a:xfrm>
          <a:prstGeom prst="bentConnector3">
            <a:avLst>
              <a:gd name="adj1" fmla="val 79361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E497A757-5F62-AE4E-78F5-A64A17CEFDD2}"/>
              </a:ext>
            </a:extLst>
          </p:cNvPr>
          <p:cNvCxnSpPr>
            <a:cxnSpLocks/>
            <a:endCxn id="4" idx="1"/>
          </p:cNvCxnSpPr>
          <p:nvPr/>
        </p:nvCxnSpPr>
        <p:spPr>
          <a:xfrm rot="10800000">
            <a:off x="594360" y="3314700"/>
            <a:ext cx="2532888" cy="1786504"/>
          </a:xfrm>
          <a:prstGeom prst="bentConnector3">
            <a:avLst>
              <a:gd name="adj1" fmla="val 109025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E785A1B8-A769-80E7-8025-36EC2AC91543}"/>
              </a:ext>
            </a:extLst>
          </p:cNvPr>
          <p:cNvCxnSpPr>
            <a:stCxn id="52" idx="3"/>
            <a:endCxn id="9" idx="2"/>
          </p:cNvCxnSpPr>
          <p:nvPr/>
        </p:nvCxnSpPr>
        <p:spPr>
          <a:xfrm flipH="1" flipV="1">
            <a:off x="3250692" y="3886200"/>
            <a:ext cx="5509260" cy="1298448"/>
          </a:xfrm>
          <a:prstGeom prst="bentConnector4">
            <a:avLst>
              <a:gd name="adj1" fmla="val -4149"/>
              <a:gd name="adj2" fmla="val 47506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E0DAD24E-7C04-76AA-B67D-3296D0C98953}"/>
              </a:ext>
            </a:extLst>
          </p:cNvPr>
          <p:cNvCxnSpPr>
            <a:stCxn id="9" idx="0"/>
            <a:endCxn id="44" idx="2"/>
          </p:cNvCxnSpPr>
          <p:nvPr/>
        </p:nvCxnSpPr>
        <p:spPr>
          <a:xfrm rot="5400000" flipH="1" flipV="1">
            <a:off x="4223258" y="993394"/>
            <a:ext cx="777240" cy="2722372"/>
          </a:xfrm>
          <a:prstGeom prst="bentConnector3">
            <a:avLst>
              <a:gd name="adj1" fmla="val 5915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E6FFC12E-372D-B469-F5BA-6B486C5DFCBE}"/>
              </a:ext>
            </a:extLst>
          </p:cNvPr>
          <p:cNvCxnSpPr>
            <a:stCxn id="44" idx="0"/>
            <a:endCxn id="52" idx="3"/>
          </p:cNvCxnSpPr>
          <p:nvPr/>
        </p:nvCxnSpPr>
        <p:spPr>
          <a:xfrm rot="16200000" flipH="1">
            <a:off x="5482844" y="1907540"/>
            <a:ext cx="3767328" cy="2786888"/>
          </a:xfrm>
          <a:prstGeom prst="bentConnector4">
            <a:avLst>
              <a:gd name="adj1" fmla="val -6068"/>
              <a:gd name="adj2" fmla="val 213927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BE5FA579-023A-F1C1-05B7-383587813068}"/>
              </a:ext>
            </a:extLst>
          </p:cNvPr>
          <p:cNvCxnSpPr>
            <a:cxnSpLocks/>
            <a:stCxn id="52" idx="1"/>
            <a:endCxn id="14" idx="2"/>
          </p:cNvCxnSpPr>
          <p:nvPr/>
        </p:nvCxnSpPr>
        <p:spPr>
          <a:xfrm rot="10800000">
            <a:off x="5152644" y="3886200"/>
            <a:ext cx="2125980" cy="1298448"/>
          </a:xfrm>
          <a:prstGeom prst="bentConnector2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4C0B47AE-B9EF-D24B-9E6A-730527CE4AC8}"/>
              </a:ext>
            </a:extLst>
          </p:cNvPr>
          <p:cNvCxnSpPr>
            <a:cxnSpLocks/>
            <a:stCxn id="14" idx="0"/>
          </p:cNvCxnSpPr>
          <p:nvPr/>
        </p:nvCxnSpPr>
        <p:spPr>
          <a:xfrm rot="5400000" flipH="1" flipV="1">
            <a:off x="5093843" y="2015617"/>
            <a:ext cx="786384" cy="668782"/>
          </a:xfrm>
          <a:prstGeom prst="bentConnector3">
            <a:avLst>
              <a:gd name="adj1" fmla="val 50000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5ED880DA-9BE8-3271-FC10-26B42809FD33}"/>
              </a:ext>
            </a:extLst>
          </p:cNvPr>
          <p:cNvCxnSpPr>
            <a:stCxn id="52" idx="1"/>
            <a:endCxn id="19" idx="2"/>
          </p:cNvCxnSpPr>
          <p:nvPr/>
        </p:nvCxnSpPr>
        <p:spPr>
          <a:xfrm rot="10800000">
            <a:off x="7054596" y="3886200"/>
            <a:ext cx="224028" cy="1298448"/>
          </a:xfrm>
          <a:prstGeom prst="bentConnector2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10A06450-08A3-9B88-3B4D-DADAC8DAF32A}"/>
              </a:ext>
            </a:extLst>
          </p:cNvPr>
          <p:cNvCxnSpPr>
            <a:cxnSpLocks/>
            <a:stCxn id="19" idx="0"/>
          </p:cNvCxnSpPr>
          <p:nvPr/>
        </p:nvCxnSpPr>
        <p:spPr>
          <a:xfrm rot="16200000" flipV="1">
            <a:off x="6284215" y="1972818"/>
            <a:ext cx="786384" cy="754379"/>
          </a:xfrm>
          <a:prstGeom prst="bentConnector3">
            <a:avLst>
              <a:gd name="adj1" fmla="val 50000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CAFDCFAB-0B55-008F-9A06-7AE666909BDB}"/>
              </a:ext>
            </a:extLst>
          </p:cNvPr>
          <p:cNvCxnSpPr>
            <a:cxnSpLocks/>
            <a:stCxn id="27" idx="0"/>
            <a:endCxn id="36" idx="2"/>
          </p:cNvCxnSpPr>
          <p:nvPr/>
        </p:nvCxnSpPr>
        <p:spPr>
          <a:xfrm rot="16200000" flipV="1">
            <a:off x="5658866" y="-554482"/>
            <a:ext cx="777240" cy="5818124"/>
          </a:xfrm>
          <a:prstGeom prst="bentConnector3">
            <a:avLst>
              <a:gd name="adj1" fmla="val 761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EB942BE6-FAE2-A7CC-21E3-382271A61976}"/>
              </a:ext>
            </a:extLst>
          </p:cNvPr>
          <p:cNvCxnSpPr>
            <a:cxnSpLocks/>
            <a:stCxn id="36" idx="1"/>
            <a:endCxn id="52" idx="2"/>
          </p:cNvCxnSpPr>
          <p:nvPr/>
        </p:nvCxnSpPr>
        <p:spPr>
          <a:xfrm rot="10800000" flipH="1" flipV="1">
            <a:off x="1721104" y="1691639"/>
            <a:ext cx="6298184" cy="3753359"/>
          </a:xfrm>
          <a:prstGeom prst="bentConnector4">
            <a:avLst>
              <a:gd name="adj1" fmla="val -23472"/>
              <a:gd name="adj2" fmla="val 1320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66715311-9A43-4704-AD21-01DD1A7B0F9F}"/>
              </a:ext>
            </a:extLst>
          </p:cNvPr>
          <p:cNvCxnSpPr>
            <a:stCxn id="48" idx="3"/>
            <a:endCxn id="50" idx="1"/>
          </p:cNvCxnSpPr>
          <p:nvPr/>
        </p:nvCxnSpPr>
        <p:spPr>
          <a:xfrm>
            <a:off x="4608576" y="5215761"/>
            <a:ext cx="565404" cy="5153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155FF1DD-BCC3-4C0C-A2C0-BCCCE682537E}"/>
              </a:ext>
            </a:extLst>
          </p:cNvPr>
          <p:cNvCxnSpPr>
            <a:stCxn id="50" idx="3"/>
            <a:endCxn id="52" idx="1"/>
          </p:cNvCxnSpPr>
          <p:nvPr/>
        </p:nvCxnSpPr>
        <p:spPr>
          <a:xfrm flipV="1">
            <a:off x="6655308" y="5184648"/>
            <a:ext cx="623316" cy="5464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: Elbow 121">
            <a:extLst>
              <a:ext uri="{FF2B5EF4-FFF2-40B4-BE49-F238E27FC236}">
                <a16:creationId xmlns:a16="http://schemas.microsoft.com/office/drawing/2014/main" id="{EBE7C80F-22DE-D5D9-17AA-9FFA4A305F3F}"/>
              </a:ext>
            </a:extLst>
          </p:cNvPr>
          <p:cNvCxnSpPr>
            <a:stCxn id="46" idx="3"/>
            <a:endCxn id="52" idx="3"/>
          </p:cNvCxnSpPr>
          <p:nvPr/>
        </p:nvCxnSpPr>
        <p:spPr>
          <a:xfrm flipH="1">
            <a:off x="8759952" y="1691640"/>
            <a:ext cx="1465072" cy="3493008"/>
          </a:xfrm>
          <a:prstGeom prst="bentConnector3">
            <a:avLst>
              <a:gd name="adj1" fmla="val -106449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3DF644A5-0486-31BB-AFAA-060277BEE5B8}"/>
              </a:ext>
            </a:extLst>
          </p:cNvPr>
          <p:cNvCxnSpPr>
            <a:cxnSpLocks/>
            <a:stCxn id="44" idx="0"/>
            <a:endCxn id="52" idx="3"/>
          </p:cNvCxnSpPr>
          <p:nvPr/>
        </p:nvCxnSpPr>
        <p:spPr>
          <a:xfrm rot="16200000" flipH="1">
            <a:off x="5482844" y="1907540"/>
            <a:ext cx="3767328" cy="2786888"/>
          </a:xfrm>
          <a:prstGeom prst="bentConnector4">
            <a:avLst>
              <a:gd name="adj1" fmla="val -11731"/>
              <a:gd name="adj2" fmla="val 217937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495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</TotalTime>
  <Words>1628</Words>
  <Application>Microsoft Office PowerPoint</Application>
  <PresentationFormat>Widescreen</PresentationFormat>
  <Paragraphs>282</Paragraphs>
  <Slides>16</Slides>
  <Notes>3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documentale e architetturale per STAR</dc:title>
  <dc:subject>Bozza presentazione standard ECSS / ISO per STAR</dc:subject>
  <dc:creator>OpenAI</dc:creator>
  <cp:lastModifiedBy>S5Lab Osservazioni</cp:lastModifiedBy>
  <cp:revision>29</cp:revision>
  <dcterms:created xsi:type="dcterms:W3CDTF">2026-05-19T15:19:40Z</dcterms:created>
  <dcterms:modified xsi:type="dcterms:W3CDTF">2026-06-11T10:57:12Z</dcterms:modified>
</cp:coreProperties>
</file>